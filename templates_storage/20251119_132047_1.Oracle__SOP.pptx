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6" r:id="rId3"/>
    <p:sldId id="283" r:id="rId4"/>
    <p:sldId id="276" r:id="rId5"/>
    <p:sldId id="281" r:id="rId6"/>
    <p:sldId id="282" r:id="rId7"/>
    <p:sldId id="27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A95D2E2-9318-4DDE-AD42-79D638DFD41E}">
          <p14:sldIdLst>
            <p14:sldId id="264"/>
          </p14:sldIdLst>
        </p14:section>
        <p14:section name="未命名的章節" id="{494CCDD3-6267-4703-8698-A850DF6772D9}">
          <p14:sldIdLst>
            <p14:sldId id="266"/>
            <p14:sldId id="283"/>
            <p14:sldId id="276"/>
            <p14:sldId id="281"/>
            <p14:sldId id="282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42"/>
    <a:srgbClr val="FFFFFF"/>
    <a:srgbClr val="5B9BD5"/>
    <a:srgbClr val="FFFF00"/>
    <a:srgbClr val="F4F4E8"/>
    <a:srgbClr val="0099FF"/>
    <a:srgbClr val="66FFFF"/>
    <a:srgbClr val="DCD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3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EB40-3A2A-4784-A8C4-C927D578FF07}" type="datetimeFigureOut">
              <a:rPr lang="zh-TW" altLang="en-US" smtClean="0"/>
              <a:t>2023/12/19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126B8-2785-47A8-957F-C53D453040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87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/>
          <p:nvPr userDrawn="1"/>
        </p:nvSpPr>
        <p:spPr>
          <a:xfrm>
            <a:off x="0" y="0"/>
            <a:ext cx="7239000" cy="6903720"/>
          </a:xfrm>
          <a:custGeom>
            <a:avLst/>
            <a:gdLst>
              <a:gd name="connsiteX0" fmla="*/ 0 w 7239000"/>
              <a:gd name="connsiteY0" fmla="*/ 0 h 6903720"/>
              <a:gd name="connsiteX1" fmla="*/ 0 w 7239000"/>
              <a:gd name="connsiteY1" fmla="*/ 6903720 h 6903720"/>
              <a:gd name="connsiteX2" fmla="*/ 5425440 w 7239000"/>
              <a:gd name="connsiteY2" fmla="*/ 6903720 h 6903720"/>
              <a:gd name="connsiteX3" fmla="*/ 7239000 w 7239000"/>
              <a:gd name="connsiteY3" fmla="*/ 0 h 6903720"/>
              <a:gd name="connsiteX4" fmla="*/ 0 w 7239000"/>
              <a:gd name="connsiteY4" fmla="*/ 0 h 690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0" h="6903720">
                <a:moveTo>
                  <a:pt x="0" y="0"/>
                </a:moveTo>
                <a:lnTo>
                  <a:pt x="0" y="6903720"/>
                </a:lnTo>
                <a:lnTo>
                  <a:pt x="5425440" y="6903720"/>
                </a:lnTo>
                <a:lnTo>
                  <a:pt x="7239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825" y="653134"/>
            <a:ext cx="2467888" cy="471738"/>
          </a:xfrm>
          <a:prstGeom prst="rect">
            <a:avLst/>
          </a:prstGeom>
        </p:spPr>
      </p:pic>
      <p:sp>
        <p:nvSpPr>
          <p:cNvPr id="12" name="標題版面配置區 22"/>
          <p:cNvSpPr>
            <a:spLocks noGrp="1"/>
          </p:cNvSpPr>
          <p:nvPr>
            <p:ph type="title"/>
          </p:nvPr>
        </p:nvSpPr>
        <p:spPr>
          <a:xfrm>
            <a:off x="1020382" y="2941070"/>
            <a:ext cx="5080616" cy="6531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129493" y="1735444"/>
            <a:ext cx="3366627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6000" b="1" dirty="0" smtClean="0">
                <a:solidFill>
                  <a:schemeClr val="bg1"/>
                </a:solidFill>
                <a:latin typeface="+mn-lt"/>
                <a:cs typeface="Aharoni" panose="02010803020104030203" pitchFamily="2" charset="-79"/>
              </a:rPr>
              <a:t>ANNUAL </a:t>
            </a:r>
          </a:p>
          <a:p>
            <a:pPr>
              <a:lnSpc>
                <a:spcPct val="100000"/>
              </a:lnSpc>
            </a:pPr>
            <a:r>
              <a:rPr lang="en-US" altLang="zh-TW" sz="6000" b="1" dirty="0" smtClean="0">
                <a:solidFill>
                  <a:schemeClr val="bg1"/>
                </a:solidFill>
                <a:latin typeface="+mn-lt"/>
                <a:cs typeface="Aharoni" panose="02010803020104030203" pitchFamily="2" charset="-79"/>
              </a:rPr>
              <a:t>MEETING </a:t>
            </a:r>
          </a:p>
          <a:p>
            <a:pPr>
              <a:lnSpc>
                <a:spcPct val="100000"/>
              </a:lnSpc>
            </a:pPr>
            <a:r>
              <a:rPr lang="en-US" altLang="zh-TW" sz="8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2023</a:t>
            </a:r>
            <a:endParaRPr lang="zh-TW" altLang="en-US" sz="8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8239760" y="5479765"/>
            <a:ext cx="2976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TW" sz="1200" dirty="0" smtClean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 Innovation &amp; Change</a:t>
            </a:r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8214360" y="4880316"/>
            <a:ext cx="3053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>
                <a:solidFill>
                  <a:srgbClr val="FFFF00"/>
                </a:solidFill>
              </a:rPr>
              <a:t>SUNON X ESG</a:t>
            </a:r>
            <a:endParaRPr lang="zh-TW" altLang="en-US" sz="4000" dirty="0">
              <a:solidFill>
                <a:srgbClr val="FFFF00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8239760" y="5703054"/>
            <a:ext cx="299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TW" altLang="en-US" sz="1400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綠創新機 永續共好</a:t>
            </a:r>
            <a:endParaRPr lang="en-US" altLang="zh-TW" sz="1400" dirty="0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820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邊形 7"/>
          <p:cNvSpPr/>
          <p:nvPr userDrawn="1"/>
        </p:nvSpPr>
        <p:spPr>
          <a:xfrm flipV="1">
            <a:off x="304800" y="4343400"/>
            <a:ext cx="6736080" cy="2514600"/>
          </a:xfrm>
          <a:prstGeom prst="parallelogram">
            <a:avLst>
              <a:gd name="adj" fmla="val 26184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平行四邊形 8"/>
          <p:cNvSpPr/>
          <p:nvPr userDrawn="1"/>
        </p:nvSpPr>
        <p:spPr>
          <a:xfrm>
            <a:off x="304800" y="0"/>
            <a:ext cx="7162800" cy="4191000"/>
          </a:xfrm>
          <a:prstGeom prst="parallelogram">
            <a:avLst>
              <a:gd name="adj" fmla="val 26184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版面配置區 22"/>
          <p:cNvSpPr>
            <a:spLocks noGrp="1"/>
          </p:cNvSpPr>
          <p:nvPr>
            <p:ph type="title"/>
          </p:nvPr>
        </p:nvSpPr>
        <p:spPr>
          <a:xfrm>
            <a:off x="886655" y="2979928"/>
            <a:ext cx="4933071" cy="65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65" y="4541520"/>
            <a:ext cx="1845206" cy="352712"/>
          </a:xfrm>
          <a:prstGeom prst="rect">
            <a:avLst/>
          </a:prstGeom>
        </p:spPr>
      </p:pic>
      <p:sp>
        <p:nvSpPr>
          <p:cNvPr id="17" name="文字方塊 16"/>
          <p:cNvSpPr txBox="1"/>
          <p:nvPr userDrawn="1"/>
        </p:nvSpPr>
        <p:spPr>
          <a:xfrm>
            <a:off x="7737003" y="3876235"/>
            <a:ext cx="3853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chemeClr val="bg1"/>
                </a:solidFill>
                <a:latin typeface="+mn-lt"/>
                <a:cs typeface="Aharoni" panose="02010803020104030203" pitchFamily="2" charset="-79"/>
              </a:rPr>
              <a:t>ANNUAL MEETING </a:t>
            </a:r>
            <a:r>
              <a:rPr lang="en-US" altLang="zh-TW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2023</a:t>
            </a:r>
            <a:endParaRPr lang="zh-TW" alt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005840" y="5032724"/>
            <a:ext cx="37185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TW" sz="1200" dirty="0" smtClean="0">
                <a:solidFill>
                  <a:srgbClr val="009D4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 Innovation &amp; Change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3063240" y="4433276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>
                <a:solidFill>
                  <a:srgbClr val="009D4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X  </a:t>
            </a:r>
            <a:r>
              <a:rPr lang="en-US" altLang="zh-TW" sz="4000" b="1" dirty="0" smtClean="0">
                <a:solidFill>
                  <a:srgbClr val="009D4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ESG</a:t>
            </a:r>
            <a:endParaRPr lang="zh-TW" altLang="en-US" sz="4000" b="1" dirty="0">
              <a:solidFill>
                <a:srgbClr val="009D4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1046480" y="5286495"/>
            <a:ext cx="364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TW" altLang="en-US" sz="1400" dirty="0" smtClean="0">
                <a:solidFill>
                  <a:srgbClr val="009D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綠創新機 永續共好</a:t>
            </a:r>
            <a:endParaRPr lang="en-US" altLang="zh-TW" sz="1400" dirty="0" smtClean="0">
              <a:solidFill>
                <a:srgbClr val="009D4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778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及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邊形 14"/>
          <p:cNvSpPr/>
          <p:nvPr userDrawn="1"/>
        </p:nvSpPr>
        <p:spPr>
          <a:xfrm flipV="1">
            <a:off x="304800" y="4343400"/>
            <a:ext cx="6736080" cy="2514600"/>
          </a:xfrm>
          <a:prstGeom prst="parallelogram">
            <a:avLst>
              <a:gd name="adj" fmla="val 26184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平行四邊形 1"/>
          <p:cNvSpPr/>
          <p:nvPr userDrawn="1"/>
        </p:nvSpPr>
        <p:spPr>
          <a:xfrm>
            <a:off x="304800" y="0"/>
            <a:ext cx="7162800" cy="4191000"/>
          </a:xfrm>
          <a:prstGeom prst="parallelogram">
            <a:avLst>
              <a:gd name="adj" fmla="val 26184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" name="圖片 2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3767" y="6511871"/>
            <a:ext cx="1040313" cy="198856"/>
          </a:xfrm>
          <a:prstGeom prst="rect">
            <a:avLst/>
          </a:prstGeom>
        </p:spPr>
      </p:pic>
      <p:sp>
        <p:nvSpPr>
          <p:cNvPr id="31" name="Rectangle 22"/>
          <p:cNvSpPr>
            <a:spLocks noChangeArrowheads="1"/>
          </p:cNvSpPr>
          <p:nvPr userDrawn="1"/>
        </p:nvSpPr>
        <p:spPr bwMode="auto">
          <a:xfrm>
            <a:off x="2154421" y="6524010"/>
            <a:ext cx="2329484" cy="217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zh-TW" altLang="en-US" sz="8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建準電機版權所有請勿翻印 </a:t>
            </a:r>
            <a:r>
              <a:rPr lang="en-US" altLang="zh-TW" sz="8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8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內部文件請勿外流</a:t>
            </a:r>
            <a:r>
              <a:rPr lang="en-US" altLang="zh-TW" sz="8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</a:p>
        </p:txBody>
      </p:sp>
      <p:sp>
        <p:nvSpPr>
          <p:cNvPr id="33" name="標題版面配置區 22"/>
          <p:cNvSpPr>
            <a:spLocks noGrp="1"/>
          </p:cNvSpPr>
          <p:nvPr>
            <p:ph type="title"/>
          </p:nvPr>
        </p:nvSpPr>
        <p:spPr>
          <a:xfrm>
            <a:off x="886655" y="2979928"/>
            <a:ext cx="4933071" cy="653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7760448" y="3712112"/>
            <a:ext cx="3853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chemeClr val="bg1"/>
                </a:solidFill>
                <a:latin typeface="+mn-lt"/>
                <a:cs typeface="Aharoni" panose="02010803020104030203" pitchFamily="2" charset="-79"/>
              </a:rPr>
              <a:t>ANNUAL MEETING </a:t>
            </a:r>
            <a:r>
              <a:rPr lang="en-US" altLang="zh-TW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2023</a:t>
            </a:r>
            <a:endParaRPr lang="zh-TW" alt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8181144" y="4846718"/>
            <a:ext cx="2976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TW" sz="1200" dirty="0" smtClean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Green Innovation &amp; Change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8181144" y="5070007"/>
            <a:ext cx="299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TW" altLang="en-US" sz="1400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綠創新機 永續共好</a:t>
            </a:r>
            <a:endParaRPr lang="en-US" altLang="zh-TW" sz="1400" dirty="0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 userDrawn="1"/>
        </p:nvSpPr>
        <p:spPr>
          <a:xfrm>
            <a:off x="8155744" y="4247269"/>
            <a:ext cx="3053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>
                <a:solidFill>
                  <a:srgbClr val="FFFF00"/>
                </a:solidFill>
              </a:rPr>
              <a:t>SUNON X ESG</a:t>
            </a:r>
            <a:endParaRPr lang="zh-TW" altLang="en-US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47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634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65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6296025"/>
            <a:ext cx="12192000" cy="561975"/>
          </a:xfrm>
          <a:prstGeom prst="rect">
            <a:avLst/>
          </a:prstGeom>
        </p:spPr>
      </p:pic>
      <p:sp>
        <p:nvSpPr>
          <p:cNvPr id="22" name="手繪多邊形 21"/>
          <p:cNvSpPr/>
          <p:nvPr userDrawn="1"/>
        </p:nvSpPr>
        <p:spPr>
          <a:xfrm flipH="1" flipV="1">
            <a:off x="10749280" y="6207760"/>
            <a:ext cx="1442720" cy="650240"/>
          </a:xfrm>
          <a:custGeom>
            <a:avLst/>
            <a:gdLst>
              <a:gd name="connsiteX0" fmla="*/ 0 w 7239000"/>
              <a:gd name="connsiteY0" fmla="*/ 0 h 6903720"/>
              <a:gd name="connsiteX1" fmla="*/ 0 w 7239000"/>
              <a:gd name="connsiteY1" fmla="*/ 6903720 h 6903720"/>
              <a:gd name="connsiteX2" fmla="*/ 5425440 w 7239000"/>
              <a:gd name="connsiteY2" fmla="*/ 6903720 h 6903720"/>
              <a:gd name="connsiteX3" fmla="*/ 7239000 w 7239000"/>
              <a:gd name="connsiteY3" fmla="*/ 0 h 6903720"/>
              <a:gd name="connsiteX4" fmla="*/ 0 w 7239000"/>
              <a:gd name="connsiteY4" fmla="*/ 0 h 690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0" h="6903720">
                <a:moveTo>
                  <a:pt x="0" y="0"/>
                </a:moveTo>
                <a:lnTo>
                  <a:pt x="0" y="6903720"/>
                </a:lnTo>
                <a:lnTo>
                  <a:pt x="5425440" y="6903720"/>
                </a:lnTo>
                <a:lnTo>
                  <a:pt x="7239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 Box 21"/>
          <p:cNvSpPr txBox="1">
            <a:spLocks noChangeArrowheads="1"/>
          </p:cNvSpPr>
          <p:nvPr userDrawn="1"/>
        </p:nvSpPr>
        <p:spPr bwMode="auto">
          <a:xfrm>
            <a:off x="5727764" y="6513321"/>
            <a:ext cx="6810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Page </a:t>
            </a:r>
            <a:fld id="{8019877D-0AEB-4FBD-A150-34CC6214C00E}" type="slidenum">
              <a:rPr lang="en-US" altLang="zh-TW" sz="1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 eaLnBrk="1" hangingPunct="1"/>
              <a:t>‹#›</a:t>
            </a:fld>
            <a:endParaRPr lang="en-US" altLang="zh-TW" sz="1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標題版面配置區 2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4669" y="6540945"/>
            <a:ext cx="1000651" cy="191275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98475" y="6309975"/>
            <a:ext cx="2199140" cy="524492"/>
            <a:chOff x="6928339" y="6178677"/>
            <a:chExt cx="2199140" cy="524492"/>
          </a:xfrm>
        </p:grpSpPr>
        <p:sp>
          <p:nvSpPr>
            <p:cNvPr id="17" name="Rectangle 22"/>
            <p:cNvSpPr>
              <a:spLocks noChangeArrowheads="1"/>
            </p:cNvSpPr>
            <p:nvPr userDrawn="1"/>
          </p:nvSpPr>
          <p:spPr bwMode="auto">
            <a:xfrm>
              <a:off x="6928339" y="6509270"/>
              <a:ext cx="2096085" cy="1938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110000"/>
                </a:lnSpc>
                <a:defRPr/>
              </a:pPr>
              <a:r>
                <a:rPr lang="zh-TW" altLang="en-US" sz="600" dirty="0" smtClean="0">
                  <a:solidFill>
                    <a:schemeClr val="bg1"/>
                  </a:solidFill>
                  <a:effectLst/>
                  <a:latin typeface="微軟正黑體" pitchFamily="34" charset="-120"/>
                  <a:ea typeface="微軟正黑體" pitchFamily="34" charset="-120"/>
                </a:rPr>
                <a:t>建準電機版權所有請勿翻印 </a:t>
              </a:r>
              <a:r>
                <a:rPr lang="en-US" altLang="zh-TW" sz="600" dirty="0" smtClean="0">
                  <a:solidFill>
                    <a:schemeClr val="bg1"/>
                  </a:solidFill>
                  <a:effectLst/>
                  <a:latin typeface="微軟正黑體" pitchFamily="34" charset="-120"/>
                  <a:ea typeface="微軟正黑體" pitchFamily="34" charset="-120"/>
                </a:rPr>
                <a:t>(</a:t>
              </a:r>
              <a:r>
                <a:rPr lang="zh-TW" altLang="en-US" sz="600" dirty="0" smtClean="0">
                  <a:solidFill>
                    <a:schemeClr val="bg1"/>
                  </a:solidFill>
                  <a:effectLst/>
                  <a:latin typeface="微軟正黑體" pitchFamily="34" charset="-120"/>
                  <a:ea typeface="微軟正黑體" pitchFamily="34" charset="-120"/>
                </a:rPr>
                <a:t>內部文件請勿外流</a:t>
              </a:r>
              <a:r>
                <a:rPr lang="en-US" altLang="zh-TW" sz="600" dirty="0" smtClean="0">
                  <a:solidFill>
                    <a:schemeClr val="bg1"/>
                  </a:solidFill>
                  <a:effectLst/>
                  <a:latin typeface="微軟正黑體" pitchFamily="34" charset="-120"/>
                  <a:ea typeface="微軟正黑體" pitchFamily="34" charset="-120"/>
                </a:rPr>
                <a:t>)</a:t>
              </a: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7984479" y="6178677"/>
              <a:ext cx="1143000" cy="369332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800" dirty="0" smtClean="0">
                  <a:solidFill>
                    <a:schemeClr val="bg1"/>
                  </a:solidFill>
                  <a:effectLst/>
                  <a:latin typeface="Arial Black" panose="020B0A04020102020204" pitchFamily="34" charset="0"/>
                  <a:cs typeface="Aharoni" panose="02010803020104030203" pitchFamily="2" charset="-79"/>
                </a:rPr>
                <a:t>2023</a:t>
              </a:r>
              <a:endParaRPr lang="zh-TW" altLang="en-US" sz="1800" dirty="0">
                <a:solidFill>
                  <a:schemeClr val="bg1"/>
                </a:solidFill>
                <a:effectLst/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19" name="文字方塊 18"/>
            <p:cNvSpPr txBox="1"/>
            <p:nvPr userDrawn="1"/>
          </p:nvSpPr>
          <p:spPr>
            <a:xfrm>
              <a:off x="6941314" y="6270277"/>
              <a:ext cx="1561646" cy="253916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 smtClean="0">
                  <a:solidFill>
                    <a:schemeClr val="bg1"/>
                  </a:solidFill>
                  <a:effectLst/>
                  <a:ea typeface="微軟正黑體" pitchFamily="34" charset="-120"/>
                  <a:cs typeface="Arial" charset="0"/>
                </a:rPr>
                <a:t>SUNON  Annual Meeting</a:t>
              </a:r>
              <a:endParaRPr lang="zh-TW" altLang="en-US" sz="1100" dirty="0">
                <a:solidFill>
                  <a:schemeClr val="bg1"/>
                </a:solidFill>
                <a:effectLst/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41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0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標楷體" panose="03000509000000000000" pitchFamily="65" charset="-120"/>
          <a:cs typeface="Lucida Sans Unicode" panose="020B0602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29595" y="2914944"/>
            <a:ext cx="4957893" cy="65311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Oracle</a:t>
            </a:r>
            <a:r>
              <a:rPr lang="zh-TW" altLang="en-US" dirty="0" smtClean="0"/>
              <a:t>採購流程簡化</a:t>
            </a:r>
            <a:r>
              <a:rPr lang="en-US" altLang="zh-TW" dirty="0" smtClean="0"/>
              <a:t>For</a:t>
            </a:r>
            <a:r>
              <a:rPr lang="zh-TW" altLang="en-US" dirty="0" smtClean="0"/>
              <a:t>採購員</a:t>
            </a:r>
            <a:r>
              <a:rPr lang="en-US" altLang="zh-TW" dirty="0" smtClean="0"/>
              <a:t>_SOP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43105" y="4946672"/>
            <a:ext cx="25202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報告單位</a:t>
            </a:r>
            <a:r>
              <a:rPr lang="en-US" altLang="zh-TW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:ERP</a:t>
            </a:r>
          </a:p>
          <a:p>
            <a:r>
              <a:rPr lang="zh-TW" altLang="en-US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報告人</a:t>
            </a:r>
            <a:r>
              <a:rPr lang="en-US" altLang="zh-TW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:</a:t>
            </a:r>
            <a:r>
              <a:rPr lang="zh-TW" altLang="en-US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 </a:t>
            </a:r>
            <a:r>
              <a:rPr lang="en-US" altLang="zh-TW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Jim</a:t>
            </a:r>
          </a:p>
          <a:p>
            <a:r>
              <a:rPr lang="zh-TW" altLang="en-US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報告日期</a:t>
            </a:r>
            <a:r>
              <a:rPr lang="en-US" altLang="zh-TW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:</a:t>
            </a:r>
            <a:r>
              <a:rPr lang="zh-TW" altLang="en-US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 </a:t>
            </a:r>
            <a:r>
              <a:rPr lang="en-US" altLang="zh-TW" dirty="0" smtClean="0">
                <a:latin typeface="Lucida Sans Unicode" panose="020B0602030504020204" pitchFamily="34" charset="0"/>
                <a:ea typeface="標楷體" panose="03000509000000000000" pitchFamily="65" charset="-120"/>
                <a:cs typeface="Lucida Sans Unicode" panose="020B0602030504020204" pitchFamily="34" charset="0"/>
              </a:rPr>
              <a:t>2023/9/22</a:t>
            </a:r>
            <a:endParaRPr lang="zh-TW" altLang="en-US" dirty="0">
              <a:latin typeface="Lucida Sans Unicode" panose="020B0602030504020204" pitchFamily="34" charset="0"/>
              <a:ea typeface="標楷體" panose="03000509000000000000" pitchFamily="65" charset="-12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91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說明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385887" y="1485900"/>
            <a:ext cx="8172450" cy="30718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3200" dirty="0" smtClean="0"/>
              <a:t>為簡化</a:t>
            </a:r>
            <a:r>
              <a:rPr lang="en-US" altLang="zh-TW" sz="3200" dirty="0" smtClean="0"/>
              <a:t>PO</a:t>
            </a:r>
            <a:r>
              <a:rPr lang="zh-TW" altLang="en-US" sz="3200" dirty="0" smtClean="0"/>
              <a:t>簽核流程</a:t>
            </a:r>
            <a:r>
              <a:rPr lang="en-US" altLang="zh-TW" sz="3200" dirty="0" smtClean="0"/>
              <a:t>,</a:t>
            </a:r>
            <a:r>
              <a:rPr lang="zh-TW" altLang="en-US" sz="3200" dirty="0" smtClean="0"/>
              <a:t>當</a:t>
            </a:r>
            <a:r>
              <a:rPr lang="en-US" altLang="zh-TW" sz="3200" dirty="0" smtClean="0"/>
              <a:t>PO</a:t>
            </a:r>
            <a:r>
              <a:rPr lang="zh-TW" altLang="en-US" sz="3200" dirty="0" smtClean="0"/>
              <a:t>版本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&gt;0</a:t>
            </a:r>
            <a:r>
              <a:rPr lang="zh-TW" altLang="en-US" sz="3200" dirty="0" smtClean="0"/>
              <a:t>請用</a:t>
            </a:r>
            <a:r>
              <a:rPr lang="en-US" altLang="zh-TW" sz="2800" dirty="0" smtClean="0"/>
              <a:t>『</a:t>
            </a:r>
            <a:r>
              <a:rPr lang="zh-TW" altLang="en-US" sz="2800" dirty="0" smtClean="0"/>
              <a:t>簡化流程</a:t>
            </a:r>
            <a:r>
              <a:rPr lang="en-US" altLang="zh-TW" sz="2800" dirty="0" smtClean="0"/>
              <a:t>』</a:t>
            </a:r>
            <a:r>
              <a:rPr lang="zh-TW" altLang="en-US" sz="2800" dirty="0" smtClean="0"/>
              <a:t>送簽</a:t>
            </a:r>
            <a:endParaRPr lang="en-US" altLang="zh-TW" sz="2800" dirty="0" smtClean="0"/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265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流程圖: 程序 49"/>
          <p:cNvSpPr/>
          <p:nvPr/>
        </p:nvSpPr>
        <p:spPr>
          <a:xfrm>
            <a:off x="6496050" y="4064886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IC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類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單價變更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5273675" y="5388831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非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IC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類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使用</a:t>
            </a:r>
            <a:r>
              <a:rPr lang="zh-TW" altLang="en-US" sz="3600" dirty="0" smtClean="0"/>
              <a:t>說明</a:t>
            </a:r>
            <a:r>
              <a:rPr lang="en-US" altLang="zh-TW" sz="3600" dirty="0"/>
              <a:t>-</a:t>
            </a:r>
            <a:r>
              <a:rPr lang="zh-TW" altLang="en-US" sz="3600" dirty="0" smtClean="0"/>
              <a:t>流程圖</a:t>
            </a:r>
            <a:endParaRPr lang="zh-TW" altLang="en-US" sz="3600" dirty="0"/>
          </a:p>
        </p:txBody>
      </p:sp>
      <p:sp>
        <p:nvSpPr>
          <p:cNvPr id="6" name="流程圖: 程序 5"/>
          <p:cNvSpPr/>
          <p:nvPr/>
        </p:nvSpPr>
        <p:spPr>
          <a:xfrm>
            <a:off x="838200" y="1003300"/>
            <a:ext cx="10795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採購員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4876800" y="1028192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當地主管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8127999" y="1028192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採購處長</a:t>
            </a:r>
          </a:p>
        </p:txBody>
      </p:sp>
      <p:cxnSp>
        <p:nvCxnSpPr>
          <p:cNvPr id="5" name="直線接點 4"/>
          <p:cNvCxnSpPr/>
          <p:nvPr/>
        </p:nvCxnSpPr>
        <p:spPr>
          <a:xfrm>
            <a:off x="749300" y="1511300"/>
            <a:ext cx="10058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50711" y="1512203"/>
            <a:ext cx="0" cy="40513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0" y="1641474"/>
            <a:ext cx="635000" cy="1292225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原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廠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簽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流程圖: 程序 11"/>
          <p:cNvSpPr/>
          <p:nvPr/>
        </p:nvSpPr>
        <p:spPr>
          <a:xfrm>
            <a:off x="25400" y="4029074"/>
            <a:ext cx="635000" cy="1292225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簡易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簽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流程圖: 預設程序 12"/>
          <p:cNvSpPr/>
          <p:nvPr/>
        </p:nvSpPr>
        <p:spPr>
          <a:xfrm>
            <a:off x="1003299" y="1760537"/>
            <a:ext cx="2514601" cy="957264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1.0</a:t>
            </a: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新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PO(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未簽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流程圖: 預設程序 13"/>
          <p:cNvSpPr/>
          <p:nvPr/>
        </p:nvSpPr>
        <p:spPr>
          <a:xfrm>
            <a:off x="4610099" y="1754759"/>
            <a:ext cx="1803401" cy="957264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.0</a:t>
            </a: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原廠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主管簽核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流程圖: 預設程序 14"/>
          <p:cNvSpPr/>
          <p:nvPr/>
        </p:nvSpPr>
        <p:spPr>
          <a:xfrm>
            <a:off x="7842249" y="1755267"/>
            <a:ext cx="1803401" cy="957264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3.0</a:t>
            </a: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原廠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主管簽核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7" name="肘形接點 16"/>
          <p:cNvCxnSpPr>
            <a:stCxn id="13" idx="3"/>
            <a:endCxn id="14" idx="1"/>
          </p:cNvCxnSpPr>
          <p:nvPr/>
        </p:nvCxnSpPr>
        <p:spPr>
          <a:xfrm flipV="1">
            <a:off x="3517900" y="2233391"/>
            <a:ext cx="1092199" cy="5778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4" idx="3"/>
            <a:endCxn id="15" idx="1"/>
          </p:cNvCxnSpPr>
          <p:nvPr/>
        </p:nvCxnSpPr>
        <p:spPr>
          <a:xfrm>
            <a:off x="6413500" y="2233391"/>
            <a:ext cx="1428749" cy="508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流程圖: 預設程序 20"/>
          <p:cNvSpPr/>
          <p:nvPr/>
        </p:nvSpPr>
        <p:spPr>
          <a:xfrm>
            <a:off x="990600" y="4186237"/>
            <a:ext cx="2514601" cy="95726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.0</a:t>
            </a: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已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簽過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PO</a:t>
            </a:r>
            <a:endParaRPr lang="en-US" altLang="zh-TW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有修改過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流程圖: 預設程序 21"/>
          <p:cNvSpPr/>
          <p:nvPr/>
        </p:nvSpPr>
        <p:spPr>
          <a:xfrm>
            <a:off x="4278490" y="4180459"/>
            <a:ext cx="2122312" cy="95726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5.0</a:t>
            </a: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客製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主管批次簽核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3" name="肘形接點 22"/>
          <p:cNvCxnSpPr>
            <a:stCxn id="21" idx="3"/>
            <a:endCxn id="22" idx="1"/>
          </p:cNvCxnSpPr>
          <p:nvPr/>
        </p:nvCxnSpPr>
        <p:spPr>
          <a:xfrm flipV="1">
            <a:off x="3505201" y="4659091"/>
            <a:ext cx="773289" cy="5778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流程圖: 預設程序 23"/>
          <p:cNvSpPr/>
          <p:nvPr/>
        </p:nvSpPr>
        <p:spPr>
          <a:xfrm>
            <a:off x="7842249" y="4176204"/>
            <a:ext cx="2075042" cy="957264"/>
          </a:xfrm>
          <a:prstGeom prst="flowChartPredefined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6.0</a:t>
            </a: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客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製</a:t>
            </a:r>
            <a:endParaRPr lang="en-US" altLang="zh-TW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主管批次簽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核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5" name="肘形接點 24"/>
          <p:cNvCxnSpPr>
            <a:stCxn id="22" idx="3"/>
            <a:endCxn id="24" idx="1"/>
          </p:cNvCxnSpPr>
          <p:nvPr/>
        </p:nvCxnSpPr>
        <p:spPr>
          <a:xfrm flipV="1">
            <a:off x="6400802" y="4654836"/>
            <a:ext cx="1441447" cy="4255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流程圖: 程序 29"/>
          <p:cNvSpPr/>
          <p:nvPr/>
        </p:nvSpPr>
        <p:spPr>
          <a:xfrm>
            <a:off x="6505575" y="1671812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IC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類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流程圖: 程序 30"/>
          <p:cNvSpPr/>
          <p:nvPr/>
        </p:nvSpPr>
        <p:spPr>
          <a:xfrm>
            <a:off x="5273675" y="2877241"/>
            <a:ext cx="1231900" cy="508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非</a:t>
            </a:r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IC</a:t>
            </a:r>
            <a:r>
              <a:rPr lang="zh-TW" altLang="en-US" b="1" dirty="0" smtClean="0">
                <a:solidFill>
                  <a:schemeClr val="accent1">
                    <a:lumMod val="50000"/>
                  </a:schemeClr>
                </a:solidFill>
              </a:rPr>
              <a:t>類</a:t>
            </a:r>
            <a:endParaRPr lang="zh-TW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流程圖: 結束點 32"/>
          <p:cNvSpPr/>
          <p:nvPr/>
        </p:nvSpPr>
        <p:spPr>
          <a:xfrm>
            <a:off x="11150600" y="3277259"/>
            <a:ext cx="965200" cy="543765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結束</a:t>
            </a:r>
          </a:p>
        </p:txBody>
      </p:sp>
      <p:cxnSp>
        <p:nvCxnSpPr>
          <p:cNvPr id="34" name="肘形接點 33"/>
          <p:cNvCxnSpPr>
            <a:stCxn id="14" idx="2"/>
            <a:endCxn id="33" idx="1"/>
          </p:cNvCxnSpPr>
          <p:nvPr/>
        </p:nvCxnSpPr>
        <p:spPr>
          <a:xfrm rot="16200000" flipH="1">
            <a:off x="7912641" y="311182"/>
            <a:ext cx="837119" cy="563880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肘形接點 36"/>
          <p:cNvCxnSpPr>
            <a:stCxn id="15" idx="2"/>
            <a:endCxn id="33" idx="1"/>
          </p:cNvCxnSpPr>
          <p:nvPr/>
        </p:nvCxnSpPr>
        <p:spPr>
          <a:xfrm rot="16200000" flipH="1">
            <a:off x="9528970" y="1927511"/>
            <a:ext cx="836611" cy="240665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22" idx="2"/>
            <a:endCxn id="29" idx="1"/>
          </p:cNvCxnSpPr>
          <p:nvPr/>
        </p:nvCxnSpPr>
        <p:spPr>
          <a:xfrm rot="16200000" flipH="1">
            <a:off x="7880011" y="2597357"/>
            <a:ext cx="730222" cy="5810953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肘形接點 53"/>
          <p:cNvCxnSpPr>
            <a:stCxn id="24" idx="2"/>
            <a:endCxn id="29" idx="1"/>
          </p:cNvCxnSpPr>
          <p:nvPr/>
        </p:nvCxnSpPr>
        <p:spPr>
          <a:xfrm rot="16200000" flipH="1">
            <a:off x="9647946" y="4365291"/>
            <a:ext cx="734477" cy="2270829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流程圖: 結束點 28"/>
          <p:cNvSpPr/>
          <p:nvPr/>
        </p:nvSpPr>
        <p:spPr>
          <a:xfrm>
            <a:off x="11150599" y="5596062"/>
            <a:ext cx="965200" cy="543765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結束</a:t>
            </a:r>
          </a:p>
        </p:txBody>
      </p:sp>
    </p:spTree>
    <p:extLst>
      <p:ext uri="{BB962C8B-B14F-4D97-AF65-F5344CB8AC3E}">
        <p14:creationId xmlns:p14="http://schemas.microsoft.com/office/powerpoint/2010/main" val="302762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 smtClean="0"/>
              <a:t>採購人員</a:t>
            </a:r>
            <a:r>
              <a:rPr lang="en-US" altLang="zh-TW" sz="3600" dirty="0" smtClean="0"/>
              <a:t>-</a:t>
            </a:r>
            <a:r>
              <a:rPr lang="zh-TW" altLang="en-US" sz="3600" dirty="0"/>
              <a:t>申請簡易</a:t>
            </a:r>
            <a:r>
              <a:rPr lang="zh-TW" altLang="en-US" sz="3600" dirty="0" smtClean="0"/>
              <a:t>簽核</a:t>
            </a:r>
            <a:r>
              <a:rPr lang="en-US" altLang="zh-TW" sz="3600" dirty="0" smtClean="0"/>
              <a:t>1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endParaRPr lang="zh-TW" altLang="en-US" sz="3600" dirty="0"/>
          </a:p>
        </p:txBody>
      </p:sp>
      <p:sp>
        <p:nvSpPr>
          <p:cNvPr id="2" name="矩形 1"/>
          <p:cNvSpPr/>
          <p:nvPr/>
        </p:nvSpPr>
        <p:spPr>
          <a:xfrm>
            <a:off x="838200" y="1074251"/>
            <a:ext cx="3161771" cy="5917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06401" y="931452"/>
            <a:ext cx="3330222" cy="295192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TW" dirty="0" smtClean="0"/>
              <a:t>PO</a:t>
            </a:r>
            <a:r>
              <a:rPr lang="zh-TW" altLang="en-US" dirty="0" smtClean="0"/>
              <a:t>已修改版本</a:t>
            </a:r>
            <a:r>
              <a:rPr lang="en-US" altLang="zh-TW" dirty="0" smtClean="0"/>
              <a:t>&gt;0</a:t>
            </a:r>
          </a:p>
          <a:p>
            <a:pPr marL="342900" indent="-342900">
              <a:buAutoNum type="arabicPeriod"/>
            </a:pPr>
            <a:r>
              <a:rPr lang="zh-TW" altLang="en-US" dirty="0" smtClean="0"/>
              <a:t>此時按</a:t>
            </a:r>
            <a:r>
              <a:rPr lang="en-US" altLang="zh-TW" dirty="0" smtClean="0"/>
              <a:t>『Approve』</a:t>
            </a:r>
            <a:r>
              <a:rPr lang="zh-TW" altLang="en-US" dirty="0" smtClean="0"/>
              <a:t>無法送出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PO</a:t>
            </a:r>
            <a:r>
              <a:rPr lang="zh-TW" altLang="en-US" dirty="0" smtClean="0"/>
              <a:t>簽核狀態是</a:t>
            </a:r>
            <a:r>
              <a:rPr lang="en-US" altLang="zh-TW" dirty="0"/>
              <a:t>『Requires </a:t>
            </a:r>
            <a:r>
              <a:rPr lang="en-US" altLang="zh-TW" dirty="0" err="1"/>
              <a:t>Reapproval</a:t>
            </a:r>
            <a:r>
              <a:rPr lang="en-US" altLang="zh-TW" dirty="0" smtClean="0"/>
              <a:t>』</a:t>
            </a:r>
          </a:p>
          <a:p>
            <a:pPr marL="342900" indent="-342900">
              <a:buAutoNum type="arabicPeriod"/>
            </a:pPr>
            <a:r>
              <a:rPr lang="zh-TW" altLang="en-US" dirty="0" smtClean="0"/>
              <a:t>點選</a:t>
            </a:r>
            <a:r>
              <a:rPr lang="en-US" altLang="zh-TW" dirty="0" smtClean="0"/>
              <a:t>『</a:t>
            </a:r>
            <a:r>
              <a:rPr lang="en-US" altLang="zh-TW" dirty="0"/>
              <a:t>Tools』『 Simple </a:t>
            </a:r>
            <a:r>
              <a:rPr lang="en-US" altLang="zh-TW" dirty="0" smtClean="0"/>
              <a:t>sign</a:t>
            </a:r>
            <a:r>
              <a:rPr lang="en-US" altLang="zh-TW" dirty="0"/>
              <a:t> 』</a:t>
            </a:r>
            <a:r>
              <a:rPr lang="zh-TW" altLang="en-US" dirty="0" smtClean="0"/>
              <a:t>申請簡易簽核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971" y="1448528"/>
            <a:ext cx="8199879" cy="540947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867" y="4301718"/>
            <a:ext cx="3422120" cy="25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9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 smtClean="0"/>
              <a:t>採購人員</a:t>
            </a:r>
            <a:r>
              <a:rPr lang="en-US" altLang="zh-TW" sz="3600" dirty="0" smtClean="0"/>
              <a:t>-</a:t>
            </a:r>
            <a:r>
              <a:rPr lang="zh-TW" altLang="en-US" sz="3600" dirty="0"/>
              <a:t>申請簡易簽</a:t>
            </a:r>
            <a:r>
              <a:rPr lang="zh-TW" altLang="en-US" sz="3600" dirty="0" smtClean="0"/>
              <a:t>核</a:t>
            </a:r>
            <a:r>
              <a:rPr lang="en-US" altLang="zh-TW" sz="3600" dirty="0" smtClean="0"/>
              <a:t>2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endParaRPr lang="zh-TW" altLang="en-US" sz="3600" dirty="0"/>
          </a:p>
        </p:txBody>
      </p:sp>
      <p:sp>
        <p:nvSpPr>
          <p:cNvPr id="2" name="矩形 1"/>
          <p:cNvSpPr/>
          <p:nvPr/>
        </p:nvSpPr>
        <p:spPr>
          <a:xfrm>
            <a:off x="838200" y="1074251"/>
            <a:ext cx="3161771" cy="5917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838200" y="1512710"/>
            <a:ext cx="3330222" cy="23029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zh-TW" altLang="en-US" dirty="0"/>
              <a:t>資料</a:t>
            </a:r>
            <a:r>
              <a:rPr lang="zh-TW" altLang="en-US" dirty="0" smtClean="0"/>
              <a:t>檢查</a:t>
            </a:r>
            <a:r>
              <a:rPr lang="en-US" altLang="zh-TW" dirty="0" smtClean="0"/>
              <a:t>=Pass</a:t>
            </a:r>
          </a:p>
          <a:p>
            <a:pPr marL="342900" indent="-342900">
              <a:buAutoNum type="arabicPeriod"/>
            </a:pPr>
            <a:r>
              <a:rPr lang="zh-TW" altLang="en-US" dirty="0" smtClean="0"/>
              <a:t>此時按</a:t>
            </a:r>
            <a:r>
              <a:rPr lang="en-US" altLang="zh-TW" dirty="0" smtClean="0"/>
              <a:t>『Submit』</a:t>
            </a:r>
            <a:r>
              <a:rPr lang="zh-TW" altLang="en-US" dirty="0" smtClean="0"/>
              <a:t>送出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994" y="1793345"/>
            <a:ext cx="43815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9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採購人員</a:t>
            </a:r>
            <a:r>
              <a:rPr lang="en-US" altLang="zh-TW" sz="3200" dirty="0"/>
              <a:t>-</a:t>
            </a:r>
            <a:r>
              <a:rPr lang="zh-TW" altLang="en-US" sz="3200" dirty="0"/>
              <a:t>申請簡易簽核</a:t>
            </a:r>
            <a:r>
              <a:rPr lang="en-US" altLang="zh-TW" sz="3200" dirty="0"/>
              <a:t>3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838200" y="1074251"/>
            <a:ext cx="3161771" cy="5917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838200" y="1512710"/>
            <a:ext cx="3330222" cy="23029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zh-TW" altLang="en-US" dirty="0"/>
              <a:t>資料</a:t>
            </a:r>
            <a:r>
              <a:rPr lang="zh-TW" altLang="en-US" dirty="0" smtClean="0"/>
              <a:t>檢查</a:t>
            </a:r>
            <a:r>
              <a:rPr lang="zh-TW" altLang="en-US" dirty="0"/>
              <a:t>有問題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zh-TW" altLang="en-US" dirty="0" smtClean="0"/>
              <a:t>此時無法按</a:t>
            </a:r>
            <a:r>
              <a:rPr lang="en-US" altLang="zh-TW" dirty="0" smtClean="0"/>
              <a:t>『Submit』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559" y="1666015"/>
            <a:ext cx="63341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5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36243" y="2284236"/>
            <a:ext cx="2695223" cy="1068564"/>
          </a:xfrm>
        </p:spPr>
        <p:txBody>
          <a:bodyPr>
            <a:noAutofit/>
          </a:bodyPr>
          <a:lstStyle/>
          <a:p>
            <a:r>
              <a:rPr lang="en-US" altLang="zh-TW" sz="6000" dirty="0" smtClean="0"/>
              <a:t>Q&amp;A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35017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191</Words>
  <Application>Microsoft Office PowerPoint</Application>
  <PresentationFormat>寬螢幕</PresentationFormat>
  <Paragraphs>52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6" baseType="lpstr">
      <vt:lpstr>Aharoni</vt:lpstr>
      <vt:lpstr>微軟正黑體</vt:lpstr>
      <vt:lpstr>新細明體</vt:lpstr>
      <vt:lpstr>標楷體</vt:lpstr>
      <vt:lpstr>Arial</vt:lpstr>
      <vt:lpstr>Arial Black</vt:lpstr>
      <vt:lpstr>Calibri</vt:lpstr>
      <vt:lpstr>Lucida Sans Unicode</vt:lpstr>
      <vt:lpstr>Office 佈景主題</vt:lpstr>
      <vt:lpstr>Oracle採購流程簡化For採購員_SOP</vt:lpstr>
      <vt:lpstr>說明</vt:lpstr>
      <vt:lpstr>使用說明-流程圖</vt:lpstr>
      <vt:lpstr>採購人員-申請簡易簽核1 </vt:lpstr>
      <vt:lpstr>採購人員-申請簡易簽核2 </vt:lpstr>
      <vt:lpstr>採購人員-申請簡易簽核3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gloria 許雪宜#1290</dc:creator>
  <cp:lastModifiedBy>Jim 謝正宜#1508</cp:lastModifiedBy>
  <cp:revision>140</cp:revision>
  <dcterms:created xsi:type="dcterms:W3CDTF">2019-08-28T07:41:35Z</dcterms:created>
  <dcterms:modified xsi:type="dcterms:W3CDTF">2023-12-19T03:24:11Z</dcterms:modified>
</cp:coreProperties>
</file>