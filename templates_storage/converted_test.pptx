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82" r:id="rId2"/>
    <p:sldId id="426" r:id="rId3"/>
    <p:sldId id="610" r:id="rId4"/>
    <p:sldId id="596" r:id="rId5"/>
    <p:sldId id="361" r:id="rId6"/>
    <p:sldId id="608" r:id="rId7"/>
    <p:sldId id="588" r:id="rId8"/>
    <p:sldId id="405" r:id="rId9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>
          <p15:clr>
            <a:srgbClr val="A4A3A4"/>
          </p15:clr>
        </p15:guide>
        <p15:guide id="2" pos="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C0C0C0"/>
    <a:srgbClr val="FF3300"/>
    <a:srgbClr val="D60093"/>
    <a:srgbClr val="663300"/>
    <a:srgbClr val="009999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28" autoAdjust="0"/>
    <p:restoredTop sz="88762" autoAdjust="0"/>
  </p:normalViewPr>
  <p:slideViewPr>
    <p:cSldViewPr>
      <p:cViewPr varScale="1">
        <p:scale>
          <a:sx n="73" d="100"/>
          <a:sy n="73" d="100"/>
        </p:scale>
        <p:origin x="1638" y="72"/>
      </p:cViewPr>
      <p:guideLst>
        <p:guide orient="horz" pos="528"/>
        <p:guide pos="96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94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94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8F83159-4796-4453-A9A7-57952438D0C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31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931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31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B11A092-7853-433C-9484-7477AC1BB45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C714D71-3E99-4544-95D1-04133545CA8B}" type="slidenum">
              <a:rPr lang="en-US" altLang="zh-TW" smtClean="0"/>
              <a:pPr>
                <a:spcBef>
                  <a:spcPct val="0"/>
                </a:spcBef>
              </a:pPr>
              <a:t>1</a:t>
            </a:fld>
            <a:endParaRPr lang="en-US" altLang="zh-TW" smtClean="0"/>
          </a:p>
        </p:txBody>
      </p:sp>
      <p:sp>
        <p:nvSpPr>
          <p:cNvPr id="5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AA29BD4-BC1A-4A15-9866-1D1CC5BCFBB7}" type="slidenum">
              <a:rPr lang="en-US" altLang="zh-TW" smtClean="0"/>
              <a:pPr>
                <a:spcBef>
                  <a:spcPct val="0"/>
                </a:spcBef>
              </a:pPr>
              <a:t>2</a:t>
            </a:fld>
            <a:endParaRPr lang="en-US" altLang="zh-TW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6D2DC33-1577-40FB-988E-172876D32117}" type="slidenum">
              <a:rPr lang="en-US" altLang="zh-TW" smtClean="0"/>
              <a:pPr>
                <a:spcBef>
                  <a:spcPct val="0"/>
                </a:spcBef>
              </a:pPr>
              <a:t>3</a:t>
            </a:fld>
            <a:endParaRPr lang="en-US" altLang="zh-TW" smtClean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77A742C-5542-46AC-AD4B-0E3D09A638FF}" type="slidenum">
              <a:rPr lang="en-US" altLang="zh-TW" smtClean="0"/>
              <a:pPr>
                <a:spcBef>
                  <a:spcPct val="0"/>
                </a:spcBef>
              </a:pPr>
              <a:t>5</a:t>
            </a:fld>
            <a:endParaRPr lang="en-US" altLang="zh-TW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FA4E87C-0B0D-4258-8D75-FB0A509B9EFA}" type="slidenum">
              <a:rPr lang="en-US" altLang="zh-TW" smtClean="0"/>
              <a:pPr>
                <a:spcBef>
                  <a:spcPct val="0"/>
                </a:spcBef>
              </a:pPr>
              <a:t>6</a:t>
            </a:fld>
            <a:endParaRPr lang="en-US" altLang="zh-TW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9DF885B0-C7C8-4BB4-96D1-16EFB95D0A2F}" type="slidenum">
              <a:rPr lang="en-US" altLang="zh-TW" smtClean="0"/>
              <a:pPr>
                <a:spcBef>
                  <a:spcPct val="0"/>
                </a:spcBef>
              </a:pPr>
              <a:t>7</a:t>
            </a:fld>
            <a:endParaRPr lang="en-US" altLang="zh-TW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1499406C-714D-4B46-B205-5DB52D910EB9}" type="slidenum">
              <a:rPr lang="en-US" altLang="zh-TW" smtClean="0"/>
              <a:pPr>
                <a:spcBef>
                  <a:spcPct val="0"/>
                </a:spcBef>
              </a:pPr>
              <a:t>8</a:t>
            </a:fld>
            <a:endParaRPr lang="en-US" altLang="zh-TW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3ECFAB-353D-4A6C-A05B-83620B0E0BC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35867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143C7F-CB0A-499C-BD0E-DC85AB7CC79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2913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A31BC-E9F1-414F-9350-413E89D18D0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3758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2A52D-0D94-4185-8D97-FD4E83A0443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1468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D3EA8C-0E35-488F-A2A2-A83A374FBEC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0796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89795-ADDC-4179-AAF5-03F1F098467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44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30B0F-D649-49EE-8C1F-1AF38BDBBCE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2486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64F197-3750-400F-9B5A-8C902F29BF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45114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EE22A6-1CE8-4A92-A4AB-5D13EFB52B2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7282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607EE-1F33-4AAC-A8AE-D624045D26C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3071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DAF5B5-6E92-4266-8A8E-49652E57062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5892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/>
          <p:cNvSpPr>
            <a:spLocks noChangeArrowheads="1"/>
          </p:cNvSpPr>
          <p:nvPr/>
        </p:nvSpPr>
        <p:spPr bwMode="auto">
          <a:xfrm>
            <a:off x="0" y="6477000"/>
            <a:ext cx="9144000" cy="228600"/>
          </a:xfrm>
          <a:prstGeom prst="rect">
            <a:avLst/>
          </a:prstGeom>
          <a:gradFill rotWithShape="0">
            <a:gsLst>
              <a:gs pos="0">
                <a:srgbClr val="339933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en-US" smtClean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4213" y="62372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+mn-ea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453C4937-1637-4DE0-98F3-A023AA44875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32" name="Picture 7" descr="Sunon Log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6477000"/>
            <a:ext cx="11890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0" y="6477000"/>
            <a:ext cx="9144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1200" smtClean="0">
              <a:solidFill>
                <a:schemeClr val="bg1"/>
              </a:solidFill>
              <a:latin typeface="標楷體" pitchFamily="65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430463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ERP</a:t>
            </a:r>
            <a:r>
              <a:rPr lang="zh-TW" altLang="en-US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工作報告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147" name="Rectangle 559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7772400" cy="484188"/>
          </a:xfrm>
        </p:spPr>
        <p:txBody>
          <a:bodyPr/>
          <a:lstStyle/>
          <a:p>
            <a:pPr algn="l" eaLnBrk="1" hangingPunct="1"/>
            <a:r>
              <a:rPr lang="zh-TW" altLang="en-US" sz="2400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本月參與會議報告</a:t>
            </a:r>
            <a:endParaRPr lang="en-US" altLang="zh-TW" sz="2400" b="1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234232" name="Group 760"/>
          <p:cNvGraphicFramePr>
            <a:graphicFrameLocks noGrp="1"/>
          </p:cNvGraphicFramePr>
          <p:nvPr/>
        </p:nvGraphicFramePr>
        <p:xfrm>
          <a:off x="107950" y="620713"/>
          <a:ext cx="8993188" cy="6288087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1414916827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3542432269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596425569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195572519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126970183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99623800"/>
                    </a:ext>
                  </a:extLst>
                </a:gridCol>
              </a:tblGrid>
              <a:tr h="701632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項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次</a:t>
                      </a:r>
                    </a:p>
                  </a:txBody>
                  <a:tcPr marT="45685" marB="45685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會議主題</a:t>
                      </a:r>
                    </a:p>
                  </a:txBody>
                  <a:tcPr marT="45685" marB="4568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會議日期</a:t>
                      </a: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補充說明</a:t>
                      </a:r>
                    </a:p>
                  </a:txBody>
                  <a:tcPr marT="45685" marB="4568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召集人</a:t>
                      </a:r>
                    </a:p>
                  </a:txBody>
                  <a:tcPr marT="45685" marB="4568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參與單位</a:t>
                      </a:r>
                    </a:p>
                  </a:txBody>
                  <a:tcPr marT="45685" marB="4568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附件</a:t>
                      </a:r>
                    </a:p>
                  </a:txBody>
                  <a:tcPr marT="45685" marB="4568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277607"/>
                  </a:ext>
                </a:extLst>
              </a:tr>
              <a:tr h="149348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itchFamily="34" charset="-120"/>
                        </a:rPr>
                        <a:t>1</a:t>
                      </a:r>
                    </a:p>
                  </a:txBody>
                  <a:tcPr marT="45708" marB="45708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anose="020B0604020202020204" pitchFamily="34" charset="-120"/>
                          <a:cs typeface="Arial Unicode MS" panose="020B0604020202020204" pitchFamily="34" charset="-120"/>
                        </a:rPr>
                        <a:t>FMD</a:t>
                      </a:r>
                      <a:r>
                        <a:rPr kumimoji="1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anose="020B0604020202020204" pitchFamily="34" charset="-120"/>
                          <a:cs typeface="Arial Unicode MS" panose="020B0604020202020204" pitchFamily="34" charset="-120"/>
                        </a:rPr>
                        <a:t>問題討論</a:t>
                      </a:r>
                      <a:endParaRPr kumimoji="1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anose="020B0604020202020204" pitchFamily="34" charset="-120"/>
                          <a:cs typeface="Arial Unicode MS" panose="020B0604020202020204" pitchFamily="34" charset="-120"/>
                        </a:rPr>
                        <a:t>2025/12/2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anose="020B0604020202020204" pitchFamily="34" charset="-120"/>
                          <a:cs typeface="Arial Unicode MS" panose="020B0604020202020204" pitchFamily="34" charset="-120"/>
                        </a:rPr>
                        <a:t>2025/12/17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藝璇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anose="020B0604020202020204" pitchFamily="34" charset="-120"/>
                          <a:cs typeface="Arial Unicode MS" panose="020B0604020202020204" pitchFamily="34" charset="-120"/>
                        </a:rPr>
                        <a:t>品保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anose="020B0604020202020204" pitchFamily="34" charset="-120"/>
                          <a:cs typeface="Arial Unicode MS" panose="020B0604020202020204" pitchFamily="34" charset="-120"/>
                        </a:rPr>
                        <a:t>廣達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anose="020B0604020202020204" pitchFamily="34" charset="-120"/>
                          <a:cs typeface="Arial Unicode MS" panose="020B0604020202020204" pitchFamily="34" charset="-120"/>
                        </a:rPr>
                        <a:t>IT</a:t>
                      </a: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270739"/>
                  </a:ext>
                </a:extLst>
              </a:tr>
              <a:tr h="143248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itchFamily="34" charset="-120"/>
                          <a:cs typeface="+mn-cs"/>
                        </a:rPr>
                        <a:t>2</a:t>
                      </a:r>
                    </a:p>
                  </a:txBody>
                  <a:tcPr marT="45708" marB="45708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TW" altLang="en-US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  <a:cs typeface="+mn-cs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  <a:cs typeface="+mn-cs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726562"/>
                  </a:ext>
                </a:extLst>
              </a:tr>
              <a:tr h="7619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itchFamily="34" charset="-120"/>
                        </a:rPr>
                        <a:t>3</a:t>
                      </a:r>
                    </a:p>
                  </a:txBody>
                  <a:tcPr marT="45708" marB="45708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000" b="0" i="0" u="none" strike="noStrike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166300"/>
                  </a:ext>
                </a:extLst>
              </a:tr>
              <a:tr h="9492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itchFamily="34" charset="-120"/>
                        </a:rPr>
                        <a:t>4</a:t>
                      </a:r>
                    </a:p>
                  </a:txBody>
                  <a:tcPr marT="45708" marB="45708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255406"/>
                  </a:ext>
                </a:extLst>
              </a:tr>
              <a:tr h="9492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Arial Unicode MS" pitchFamily="34" charset="-120"/>
                        </a:rPr>
                        <a:t>5</a:t>
                      </a:r>
                    </a:p>
                  </a:txBody>
                  <a:tcPr marT="45708" marB="45708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</a:endParaRPr>
                    </a:p>
                  </a:txBody>
                  <a:tcPr marT="45708" marB="4570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itchFamily="34" charset="-120"/>
                      </a:endParaRPr>
                    </a:p>
                  </a:txBody>
                  <a:tcPr marT="45717" marB="4571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88538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7" name="Group 526"/>
          <p:cNvGraphicFramePr>
            <a:graphicFrameLocks noGrp="1"/>
          </p:cNvGraphicFramePr>
          <p:nvPr/>
        </p:nvGraphicFramePr>
        <p:xfrm>
          <a:off x="34925" y="620713"/>
          <a:ext cx="9001125" cy="4649787"/>
        </p:xfrm>
        <a:graphic>
          <a:graphicData uri="http://schemas.openxmlformats.org/drawingml/2006/table">
            <a:tbl>
              <a:tblPr/>
              <a:tblGrid>
                <a:gridCol w="439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1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80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7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18795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項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次</a:t>
                      </a:r>
                    </a:p>
                  </a:txBody>
                  <a:tcPr marL="91435" marR="91435" marT="45682" marB="45682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專案名稱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進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度</a:t>
                      </a: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預計完成日</a:t>
                      </a: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需求人</a:t>
                      </a: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負責人</a:t>
                      </a: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參與人</a:t>
                      </a: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附件</a:t>
                      </a: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82" marB="45682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TW" sz="2000" b="1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674" marB="4567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1435" marR="91435" marT="45674" marB="4567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52" marB="4565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52" marB="4565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 smtClean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0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82" marB="45682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674" marB="4567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91435" marR="91435" marT="45674" marB="4567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91435" marR="91435" marT="45652" marB="4565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marL="91435" marR="91435" marT="45652" marB="4565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/>
                    </a:p>
                  </a:txBody>
                  <a:tcPr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217847"/>
                  </a:ext>
                </a:extLst>
              </a:tr>
              <a:tr h="1310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82" marB="45682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TW" sz="2000" b="1" i="0" u="none" strike="noStrike" dirty="0" smtClean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1435" marR="91435" marT="45674" marB="4567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1435" marR="91435" marT="45674" marB="45674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52" marB="4565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52" marB="45652"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 smtClean="0">
                        <a:solidFill>
                          <a:schemeClr val="tx1"/>
                        </a:solidFill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91435" marR="91435" marT="45682" marB="45682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375276"/>
                  </a:ext>
                </a:extLst>
              </a:tr>
            </a:tbl>
          </a:graphicData>
        </a:graphic>
      </p:graphicFrame>
      <p:sp>
        <p:nvSpPr>
          <p:cNvPr id="6" name="Rectangle 524"/>
          <p:cNvSpPr txBox="1">
            <a:spLocks noChangeArrowheads="1"/>
          </p:cNvSpPr>
          <p:nvPr/>
        </p:nvSpPr>
        <p:spPr bwMode="auto">
          <a:xfrm>
            <a:off x="0" y="-26988"/>
            <a:ext cx="7772400" cy="549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lang="zh-TW" altLang="en-US" sz="2400" b="1" kern="0" dirty="0" smtClean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跨系統、模組專案進度</a:t>
            </a:r>
            <a:r>
              <a:rPr lang="en-US" altLang="zh-TW" sz="2400" b="1" kern="0" dirty="0" smtClean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/</a:t>
            </a:r>
            <a:r>
              <a:rPr lang="zh-TW" altLang="en-US" sz="2400" b="1" kern="0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問題</a:t>
            </a:r>
            <a:r>
              <a:rPr lang="zh-TW" altLang="en-US" sz="2400" b="1" kern="0" dirty="0" smtClean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報告</a:t>
            </a:r>
            <a:r>
              <a:rPr lang="en-US" altLang="zh-TW" sz="2400" b="1" kern="0" dirty="0" smtClean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(1/1)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4" name="Rectangle 153"/>
          <p:cNvSpPr txBox="1">
            <a:spLocks noChangeArrowheads="1"/>
          </p:cNvSpPr>
          <p:nvPr/>
        </p:nvSpPr>
        <p:spPr bwMode="auto">
          <a:xfrm>
            <a:off x="0" y="-38100"/>
            <a:ext cx="7667625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l" eaLnBrk="1" hangingPunct="1">
              <a:defRPr/>
            </a:pPr>
            <a:r>
              <a:rPr kumimoji="0" lang="zh-TW" altLang="en-US" sz="2400" b="1" kern="0" dirty="0" smtClean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已完成待上線</a:t>
            </a:r>
            <a:endParaRPr lang="en-US" altLang="zh-TW" sz="2400" b="1" kern="0" dirty="0" smtClean="0">
              <a:solidFill>
                <a:schemeClr val="tx1"/>
              </a:solidFill>
              <a:latin typeface="標楷體" pitchFamily="65" charset="-120"/>
              <a:ea typeface="標楷體" pitchFamily="65" charset="-120"/>
            </a:endParaRPr>
          </a:p>
        </p:txBody>
      </p:sp>
      <p:graphicFrame>
        <p:nvGraphicFramePr>
          <p:cNvPr id="6" name="Group 157"/>
          <p:cNvGraphicFramePr>
            <a:graphicFrameLocks noGrp="1"/>
          </p:cNvGraphicFramePr>
          <p:nvPr/>
        </p:nvGraphicFramePr>
        <p:xfrm>
          <a:off x="144463" y="549275"/>
          <a:ext cx="8891587" cy="4514850"/>
        </p:xfrm>
        <a:graphic>
          <a:graphicData uri="http://schemas.openxmlformats.org/drawingml/2006/table">
            <a:tbl>
              <a:tblPr/>
              <a:tblGrid>
                <a:gridCol w="588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7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9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6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13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項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次</a:t>
                      </a:r>
                    </a:p>
                  </a:txBody>
                  <a:tcPr marL="91435" marR="91435" marT="45724" marB="4572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專案名稱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  <a:cs typeface="Times New Roman" pitchFamily="18" charset="0"/>
                      </a:endParaRPr>
                    </a:p>
                  </a:txBody>
                  <a:tcPr marL="91435" marR="91435"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預計完成日</a:t>
                      </a:r>
                    </a:p>
                  </a:txBody>
                  <a:tcPr marL="91435" marR="91435"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需求人</a:t>
                      </a:r>
                    </a:p>
                  </a:txBody>
                  <a:tcPr marL="91435" marR="91435"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附件</a:t>
                      </a:r>
                    </a:p>
                  </a:txBody>
                  <a:tcPr marL="91435" marR="91435" marT="45724" marB="4572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6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TW" sz="20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</a:t>
                      </a:r>
                      <a:endParaRPr lang="zh-TW" altLang="zh-TW" sz="20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694" marB="4569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超額供給專案</a:t>
                      </a:r>
                      <a:endParaRPr kumimoji="0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--IT</a:t>
                      </a: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開發完成</a:t>
                      </a: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,</a:t>
                      </a: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待</a:t>
                      </a: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User</a:t>
                      </a: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確認或修改</a:t>
                      </a:r>
                      <a:endParaRPr kumimoji="0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--User 2025/6/16 </a:t>
                      </a: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有回報</a:t>
                      </a: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, </a:t>
                      </a: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待討論</a:t>
                      </a:r>
                      <a:endParaRPr kumimoji="0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2026/06/30</a:t>
                      </a:r>
                    </a:p>
                  </a:txBody>
                  <a:tcPr marT="45719" marB="4571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瓊惠</a:t>
                      </a:r>
                      <a:endParaRPr kumimoji="0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1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/>
                    </a:p>
                  </a:txBody>
                  <a:tcPr marL="91435" marR="91435"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7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TW" altLang="zh-TW" sz="20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694" marB="4569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</a:txBody>
                  <a:tcPr marL="91435" marR="91435"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</a:txBody>
                  <a:tcPr marL="91435" marR="91435"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1435" marR="91435" marT="45727" marB="45727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7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zh-TW" sz="20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724" marB="4572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</a:txBody>
                  <a:tcPr marL="91435" marR="9143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Arial Unicode MS" panose="020B0604020202020204" pitchFamily="34" charset="-120"/>
                        <a:cs typeface="Arial Unicode MS" panose="020B0604020202020204" pitchFamily="34" charset="-120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TW" altLang="en-US" sz="20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0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zh-TW" altLang="zh-TW" sz="20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1435" marR="91435" marT="45724" marB="4572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TW" altLang="en-US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TW" altLang="en-US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TW" altLang="en-US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2000" b="1" i="0" u="none" strike="noStrike" kern="12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1267" name="Rectangle 565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38100"/>
            <a:ext cx="8675688" cy="514350"/>
          </a:xfrm>
        </p:spPr>
        <p:txBody>
          <a:bodyPr/>
          <a:lstStyle/>
          <a:p>
            <a:pPr algn="l" eaLnBrk="1" hangingPunct="1"/>
            <a:r>
              <a:rPr lang="zh-TW" altLang="en-US" sz="2400" b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本月工作報告</a:t>
            </a:r>
            <a:r>
              <a:rPr lang="en-US" altLang="zh-TW" sz="2400" b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(1/2)</a:t>
            </a:r>
          </a:p>
        </p:txBody>
      </p:sp>
      <p:sp>
        <p:nvSpPr>
          <p:cNvPr id="11268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7" name="Group 649"/>
          <p:cNvGraphicFramePr>
            <a:graphicFrameLocks noGrp="1"/>
          </p:cNvGraphicFramePr>
          <p:nvPr/>
        </p:nvGraphicFramePr>
        <p:xfrm>
          <a:off x="112713" y="620713"/>
          <a:ext cx="9036050" cy="5511800"/>
        </p:xfrm>
        <a:graphic>
          <a:graphicData uri="http://schemas.openxmlformats.org/drawingml/2006/table">
            <a:tbl>
              <a:tblPr/>
              <a:tblGrid>
                <a:gridCol w="541338">
                  <a:extLst>
                    <a:ext uri="{9D8B030D-6E8A-4147-A177-3AD203B41FA5}">
                      <a16:colId xmlns:a16="http://schemas.microsoft.com/office/drawing/2014/main" val="1308995065"/>
                    </a:ext>
                  </a:extLst>
                </a:gridCol>
                <a:gridCol w="3779837">
                  <a:extLst>
                    <a:ext uri="{9D8B030D-6E8A-4147-A177-3AD203B41FA5}">
                      <a16:colId xmlns:a16="http://schemas.microsoft.com/office/drawing/2014/main" val="1073746702"/>
                    </a:ext>
                  </a:extLst>
                </a:gridCol>
                <a:gridCol w="714176">
                  <a:extLst>
                    <a:ext uri="{9D8B030D-6E8A-4147-A177-3AD203B41FA5}">
                      <a16:colId xmlns:a16="http://schemas.microsoft.com/office/drawing/2014/main" val="3083908499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599559461"/>
                    </a:ext>
                  </a:extLst>
                </a:gridCol>
                <a:gridCol w="1230413">
                  <a:extLst>
                    <a:ext uri="{9D8B030D-6E8A-4147-A177-3AD203B41FA5}">
                      <a16:colId xmlns:a16="http://schemas.microsoft.com/office/drawing/2014/main" val="2574440933"/>
                    </a:ext>
                  </a:extLst>
                </a:gridCol>
                <a:gridCol w="754062">
                  <a:extLst>
                    <a:ext uri="{9D8B030D-6E8A-4147-A177-3AD203B41FA5}">
                      <a16:colId xmlns:a16="http://schemas.microsoft.com/office/drawing/2014/main" val="2940626716"/>
                    </a:ext>
                  </a:extLst>
                </a:gridCol>
              </a:tblGrid>
              <a:tr h="70088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項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次</a:t>
                      </a:r>
                    </a:p>
                  </a:txBody>
                  <a:tcPr marT="45661" marB="456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專案名稱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661" marB="456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進度</a:t>
                      </a: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%</a:t>
                      </a:r>
                      <a:endParaRPr kumimoji="1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T="45661" marB="456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預計完成日</a:t>
                      </a:r>
                    </a:p>
                  </a:txBody>
                  <a:tcPr marT="45661" marB="456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需求人</a:t>
                      </a:r>
                    </a:p>
                  </a:txBody>
                  <a:tcPr marT="45661" marB="456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附件</a:t>
                      </a:r>
                    </a:p>
                  </a:txBody>
                  <a:tcPr marT="45661" marB="4566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681334"/>
                  </a:ext>
                </a:extLst>
              </a:tr>
              <a:tr h="81107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</a:t>
                      </a:r>
                    </a:p>
                  </a:txBody>
                  <a:tcPr marT="45675" marB="456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KS WMS 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上線專案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主管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75" marB="456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927383"/>
                  </a:ext>
                </a:extLst>
              </a:tr>
              <a:tr h="122864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</a:t>
                      </a:r>
                    </a:p>
                  </a:txBody>
                  <a:tcPr marT="45677" marB="456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BH AWMS 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上線專案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--2025/12/12 PHE PO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流程上線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--2025/12/15 BHJ/BLN PO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流程上線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主管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75" marB="456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481652"/>
                  </a:ext>
                </a:extLst>
              </a:tr>
              <a:tr h="92386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3</a:t>
                      </a:r>
                    </a:p>
                  </a:txBody>
                  <a:tcPr marT="45691" marB="4569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Claude AI 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測試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--Gemini File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Search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測試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b="0" i="0" u="none" strike="noStrike" kern="1200" dirty="0" smtClean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主管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82" marB="456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97955"/>
                  </a:ext>
                </a:extLst>
              </a:tr>
              <a:tr h="92346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4</a:t>
                      </a:r>
                    </a:p>
                  </a:txBody>
                  <a:tcPr marT="45675" marB="4567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採購降漲價分析表</a:t>
                      </a: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(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依單價差異為基礎</a:t>
                      </a: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)</a:t>
                      </a:r>
                      <a:endParaRPr lang="en-US" altLang="zh-TW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96</a:t>
                      </a:r>
                      <a:endParaRPr lang="zh-TW" altLang="en-US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2025-12-31</a:t>
                      </a:r>
                      <a:endParaRPr lang="zh-TW" altLang="en-US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芳梅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82" marB="4568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33900"/>
                  </a:ext>
                </a:extLst>
              </a:tr>
              <a:tr h="92386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5</a:t>
                      </a:r>
                    </a:p>
                  </a:txBody>
                  <a:tcPr marT="45681" marB="45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FMD 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問題追蹤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--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超過一年應產生</a:t>
                      </a:r>
                      <a:r>
                        <a:rPr lang="en-US" altLang="zh-TW" sz="2000" b="0" i="0" u="none" strike="noStrike" kern="1200" dirty="0" smtClean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FMD,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未產生</a:t>
                      </a:r>
                      <a:endParaRPr lang="en-US" altLang="zh-TW" sz="2000" b="0" i="0" u="none" strike="noStrike" kern="1200" dirty="0" smtClean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--FMD</a:t>
                      </a:r>
                      <a:r>
                        <a:rPr lang="zh-TW" altLang="en-US" sz="2000" b="0" i="0" u="none" strike="noStrike" kern="1200" dirty="0" smtClean="0">
                          <a:solidFill>
                            <a:srgbClr val="00206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檔案亂碼 </a:t>
                      </a:r>
                      <a:endParaRPr lang="en-US" altLang="zh-TW" sz="2000" b="0" i="0" u="none" strike="noStrike" kern="1200" dirty="0" smtClean="0">
                        <a:solidFill>
                          <a:srgbClr val="00206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9525" marR="9525" marT="952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lang="zh-TW" altLang="en-US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86" marB="4568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劉晶晶</a:t>
                      </a:r>
                      <a:endParaRPr lang="en-US" altLang="zh-TW" sz="2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L="8313" marR="8313" marT="830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marT="45681" marB="45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03523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15" name="Rectangle 455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748713" cy="476250"/>
          </a:xfrm>
        </p:spPr>
        <p:txBody>
          <a:bodyPr/>
          <a:lstStyle/>
          <a:p>
            <a:pPr algn="l" eaLnBrk="1" hangingPunct="1"/>
            <a:r>
              <a:rPr lang="zh-TW" altLang="en-US" sz="2400" b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工作排程</a:t>
            </a:r>
            <a:r>
              <a:rPr lang="en-US" altLang="zh-TW" sz="2400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(1/1)</a:t>
            </a:r>
            <a:endParaRPr lang="en-US" altLang="zh-TW" sz="2400" b="1" smtClean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2388" y="549275"/>
          <a:ext cx="8983662" cy="6072188"/>
        </p:xfrm>
        <a:graphic>
          <a:graphicData uri="http://schemas.openxmlformats.org/drawingml/2006/table">
            <a:tbl>
              <a:tblPr/>
              <a:tblGrid>
                <a:gridCol w="300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106">
                  <a:extLst>
                    <a:ext uri="{9D8B030D-6E8A-4147-A177-3AD203B41FA5}">
                      <a16:colId xmlns:a16="http://schemas.microsoft.com/office/drawing/2014/main" val="2352622014"/>
                    </a:ext>
                  </a:extLst>
                </a:gridCol>
                <a:gridCol w="1198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1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32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4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784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序</a:t>
                      </a:r>
                      <a:endParaRPr lang="en-US" altLang="zh-TW" sz="1600" b="1" i="0" u="none" strike="noStrike" dirty="0" smtClean="0"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  <a:p>
                      <a:pPr algn="ctr" fontAlgn="ctr"/>
                      <a:r>
                        <a:rPr lang="zh-TW" alt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號</a:t>
                      </a:r>
                      <a:endParaRPr lang="zh-TW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TW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預計開始</a:t>
                      </a:r>
                      <a:b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</a:b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日期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預計完成</a:t>
                      </a:r>
                      <a:b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</a:b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日期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專案名稱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需求人員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電子</a:t>
                      </a:r>
                      <a:r>
                        <a:rPr lang="zh-TW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表單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</a:rPr>
                        <a:t>申請日期</a:t>
                      </a:r>
                      <a:endParaRPr lang="en-US" altLang="zh-TW" sz="1600" b="1" i="0" u="none" strike="noStrike" dirty="0" smtClean="0"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85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KS WMS </a:t>
                      </a:r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上線專案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主管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03071"/>
                  </a:ext>
                </a:extLst>
              </a:tr>
              <a:tr h="576242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BH WMS </a:t>
                      </a:r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上線專案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主管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297270"/>
                  </a:ext>
                </a:extLst>
              </a:tr>
              <a:tr h="74123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2025/1/2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2025/12/31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KS 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一單到底專案導入</a:t>
                      </a:r>
                      <a:b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--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T01/CHP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JOJO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8620557"/>
                  </a:ext>
                </a:extLst>
              </a:tr>
              <a:tr h="5761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2025/12/31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採購降漲價分析表</a:t>
                      </a:r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依單價差異為基礎</a:t>
                      </a:r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林芳梅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IT250711007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2025/7/11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530021"/>
                  </a:ext>
                </a:extLst>
              </a:tr>
              <a:tr h="98496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2026/3/31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zh-TW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配合</a:t>
                      </a:r>
                      <a:r>
                        <a:rPr lang="en-US" altLang="zh-TW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WMS</a:t>
                      </a:r>
                      <a:r>
                        <a:rPr lang="zh-TW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系統導入，</a:t>
                      </a:r>
                      <a:r>
                        <a:rPr lang="en-US" altLang="zh-TW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KS</a:t>
                      </a:r>
                      <a:r>
                        <a:rPr lang="zh-TW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掛號入料管控機制改</a:t>
                      </a:r>
                      <a:r>
                        <a:rPr lang="en-US" altLang="zh-TW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Portal</a:t>
                      </a:r>
                      <a:r>
                        <a:rPr lang="zh-TW" alt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控管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楊瓊惠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IT250812019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2025/8/12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169006"/>
                  </a:ext>
                </a:extLst>
              </a:tr>
              <a:tr h="98496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2026/6/30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超額供給</a:t>
                      </a:r>
                      <a:b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</a:br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--</a:t>
                      </a:r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驗證測試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楊瓊惠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187097"/>
                  </a:ext>
                </a:extLst>
              </a:tr>
              <a:tr h="98496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2026/6/30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廠商索賠優化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洪湘涵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IT230508028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2023/9/25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2299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76689" name="Group 561"/>
          <p:cNvGraphicFramePr>
            <a:graphicFrameLocks noGrp="1"/>
          </p:cNvGraphicFramePr>
          <p:nvPr/>
        </p:nvGraphicFramePr>
        <p:xfrm>
          <a:off x="228600" y="620713"/>
          <a:ext cx="8763000" cy="2994025"/>
        </p:xfrm>
        <a:graphic>
          <a:graphicData uri="http://schemas.openxmlformats.org/drawingml/2006/table">
            <a:tbl>
              <a:tblPr/>
              <a:tblGrid>
                <a:gridCol w="7583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項目</a:t>
                      </a:r>
                    </a:p>
                  </a:txBody>
                  <a:tcPr marT="45730" marB="4573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提案人</a:t>
                      </a:r>
                    </a:p>
                  </a:txBody>
                  <a:tcPr marT="45730" marB="4573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T="45728" marB="45728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marT="45728" marB="45728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6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T="45733" marB="45733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marT="45733" marB="45733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5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marT="45731" marB="45731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zh-TW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marT="45731" marB="45731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380" name="Rectangle 433"/>
          <p:cNvSpPr>
            <a:spLocks noGrp="1" noChangeArrowheads="1"/>
          </p:cNvSpPr>
          <p:nvPr>
            <p:ph type="title" idx="4294967295"/>
          </p:nvPr>
        </p:nvSpPr>
        <p:spPr>
          <a:xfrm>
            <a:off x="34925" y="-26988"/>
            <a:ext cx="3309938" cy="515938"/>
          </a:xfrm>
        </p:spPr>
        <p:txBody>
          <a:bodyPr/>
          <a:lstStyle/>
          <a:p>
            <a:pPr algn="l" eaLnBrk="1" hangingPunct="1"/>
            <a:r>
              <a:rPr lang="zh-TW" altLang="en-US" sz="2400" b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工作相關討論及建議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2"/>
          <p:cNvSpPr>
            <a:spLocks noChangeShapeType="1"/>
          </p:cNvSpPr>
          <p:nvPr/>
        </p:nvSpPr>
        <p:spPr bwMode="auto"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210120" name="Group 200"/>
          <p:cNvGraphicFramePr>
            <a:graphicFrameLocks noGrp="1"/>
          </p:cNvGraphicFramePr>
          <p:nvPr/>
        </p:nvGraphicFramePr>
        <p:xfrm>
          <a:off x="228600" y="620713"/>
          <a:ext cx="8736013" cy="1438275"/>
        </p:xfrm>
        <a:graphic>
          <a:graphicData uri="http://schemas.openxmlformats.org/drawingml/2006/table">
            <a:tbl>
              <a:tblPr/>
              <a:tblGrid>
                <a:gridCol w="754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2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62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項目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標楷體" pitchFamily="65" charset="-120"/>
                          <a:ea typeface="標楷體" pitchFamily="65" charset="-120"/>
                          <a:cs typeface="Times New Roman" pitchFamily="18" charset="0"/>
                        </a:rPr>
                        <a:t>提案人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標楷體" pitchFamily="65" charset="-120"/>
                        <a:ea typeface="標楷體" pitchFamily="65" charset="-12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TW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標楷體" pitchFamily="65" charset="-120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22" name="Rectangle 16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5219700" cy="515938"/>
          </a:xfrm>
        </p:spPr>
        <p:txBody>
          <a:bodyPr/>
          <a:lstStyle/>
          <a:p>
            <a:pPr algn="l" eaLnBrk="1" hangingPunct="1"/>
            <a:r>
              <a:rPr lang="zh-TW" altLang="en-US" sz="2400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生活</a:t>
            </a:r>
            <a:r>
              <a:rPr lang="en-US" altLang="zh-TW" sz="2400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400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資訊</a:t>
            </a:r>
            <a:r>
              <a:rPr lang="en-US" altLang="zh-TW" sz="2400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400" b="1" smtClean="0">
                <a:latin typeface="標楷體" panose="03000509000000000000" pitchFamily="65" charset="-120"/>
                <a:ea typeface="標楷體" panose="03000509000000000000" pitchFamily="65" charset="-120"/>
              </a:rPr>
              <a:t>技術分享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簡報設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003300"/>
      </a:accent2>
      <a:accent3>
        <a:srgbClr val="FFFFFF"/>
      </a:accent3>
      <a:accent4>
        <a:srgbClr val="000000"/>
      </a:accent4>
      <a:accent5>
        <a:srgbClr val="AAE2CA"/>
      </a:accent5>
      <a:accent6>
        <a:srgbClr val="002D00"/>
      </a:accent6>
      <a:hlink>
        <a:srgbClr val="003300"/>
      </a:hlink>
      <a:folHlink>
        <a:srgbClr val="003300"/>
      </a:folHlink>
    </a:clrScheme>
    <a:fontScheme name="預設簡報設計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29747</TotalTime>
  <Words>314</Words>
  <Application>Microsoft Office PowerPoint</Application>
  <PresentationFormat>如螢幕大小 (4:3)</PresentationFormat>
  <Paragraphs>159</Paragraphs>
  <Slides>8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Times New Roman</vt:lpstr>
      <vt:lpstr>標楷體</vt:lpstr>
      <vt:lpstr>Arial</vt:lpstr>
      <vt:lpstr>新細明體</vt:lpstr>
      <vt:lpstr>Arial Unicode MS</vt:lpstr>
      <vt:lpstr>預設簡報設計</vt:lpstr>
      <vt:lpstr>ERP工作報告</vt:lpstr>
      <vt:lpstr>本月參與會議報告</vt:lpstr>
      <vt:lpstr>PowerPoint 簡報</vt:lpstr>
      <vt:lpstr>PowerPoint 簡報</vt:lpstr>
      <vt:lpstr>本月工作報告(1/2)</vt:lpstr>
      <vt:lpstr>工作排程(1/1)</vt:lpstr>
      <vt:lpstr>工作相關討論及建議</vt:lpstr>
      <vt:lpstr>生活/資訊/技術分享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sunon</dc:creator>
  <cp:lastModifiedBy>Jim 謝正宜#1508</cp:lastModifiedBy>
  <cp:revision>3209</cp:revision>
  <dcterms:created xsi:type="dcterms:W3CDTF">2006-09-06T08:24:03Z</dcterms:created>
  <dcterms:modified xsi:type="dcterms:W3CDTF">2026-01-03T03:18:10Z</dcterms:modified>
</cp:coreProperties>
</file>