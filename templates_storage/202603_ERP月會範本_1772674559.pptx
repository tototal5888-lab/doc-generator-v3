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492" r:id="rId2"/>
    <p:sldId id="495" r:id="rId3"/>
    <p:sldId id="499" r:id="rId4"/>
    <p:sldId id="515" r:id="rId5"/>
    <p:sldId id="500" r:id="rId6"/>
    <p:sldId id="522" r:id="rId7"/>
    <p:sldId id="523" r:id="rId8"/>
    <p:sldId id="494" r:id="rId9"/>
    <p:sldId id="496" r:id="rId10"/>
    <p:sldId id="507" r:id="rId11"/>
  </p:sldIdLst>
  <p:sldSz cx="9144000" cy="6858000" type="screen4x3"/>
  <p:notesSz cx="6797675" cy="99266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16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16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16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16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6699"/>
    <a:srgbClr val="003366"/>
    <a:srgbClr val="33CC33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2494" autoAdjust="0"/>
  </p:normalViewPr>
  <p:slideViewPr>
    <p:cSldViewPr>
      <p:cViewPr varScale="1">
        <p:scale>
          <a:sx n="73" d="100"/>
          <a:sy n="73" d="100"/>
        </p:scale>
        <p:origin x="129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2316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39DE223-6164-4212-8253-2A245B4740F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34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AE794BB-2C8E-4568-A12D-86A77CA78AD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備忘稿版面配置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  <p:sp>
        <p:nvSpPr>
          <p:cNvPr id="1741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6C316FDB-D9CF-4A92-AB15-63BA96EB7C70}" type="slidenum">
              <a:rPr lang="en-US" altLang="zh-TW" sz="12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</a:t>
            </a:fld>
            <a:endParaRPr lang="en-US" altLang="zh-TW" sz="12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>
            <a:spLocks noChangeArrowheads="1"/>
          </p:cNvSpPr>
          <p:nvPr userDrawn="1"/>
        </p:nvSpPr>
        <p:spPr bwMode="auto">
          <a:xfrm>
            <a:off x="0" y="0"/>
            <a:ext cx="9144000" cy="3357563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100000">
                <a:srgbClr val="003B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defRPr/>
            </a:pPr>
            <a:endParaRPr lang="en-US" altLang="zh-TW" sz="3200" b="1" smtClean="0">
              <a:solidFill>
                <a:schemeClr val="bg1"/>
              </a:solidFill>
              <a:latin typeface="Lucida Sans Unicode" pitchFamily="34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482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522" y="85725"/>
            <a:ext cx="8229600" cy="67945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1075"/>
            <a:ext cx="8229600" cy="5040213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2688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522" y="85725"/>
            <a:ext cx="8229600" cy="67945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3508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ChangeArrowheads="1"/>
          </p:cNvSpPr>
          <p:nvPr userDrawn="1"/>
        </p:nvSpPr>
        <p:spPr bwMode="auto">
          <a:xfrm>
            <a:off x="0" y="0"/>
            <a:ext cx="9144000" cy="3357563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100000">
                <a:srgbClr val="003B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defRPr/>
            </a:pPr>
            <a:endParaRPr lang="en-US" altLang="zh-TW" sz="3200" b="1" smtClean="0">
              <a:solidFill>
                <a:schemeClr val="bg1"/>
              </a:solidFill>
              <a:latin typeface="Lucida Sans Unicode" pitchFamily="34" charset="0"/>
              <a:ea typeface="標楷體" pitchFamily="65" charset="-120"/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3730625"/>
            <a:ext cx="2662237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5025157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04664"/>
            <a:ext cx="7772400" cy="1362075"/>
          </a:xfrm>
        </p:spPr>
        <p:txBody>
          <a:bodyPr anchor="t"/>
          <a:lstStyle>
            <a:lvl1pPr algn="l">
              <a:lnSpc>
                <a:spcPct val="150000"/>
              </a:lnSpc>
              <a:defRPr sz="4000" b="1" cap="all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91982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95288" y="9810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86288" y="9810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89A89-B2CE-46FE-ABEF-4D1EE2C6195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6119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27413-77E0-4FC4-8275-2D4096A5A39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95134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57953-5485-4071-9E2B-C2902F5F666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42610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EABD98-4712-4BDE-8068-0C5343B7725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52483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8625B-CD1E-4E6F-99CA-BF6DC087BD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3618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AD28A8-7DB3-4405-A899-65355DDE27F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63230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9005D-AEB4-4A8E-93AE-0E69E1516DD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39261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50025" y="85725"/>
            <a:ext cx="2074863" cy="542131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23850" y="85725"/>
            <a:ext cx="6073775" cy="542131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BF4B6A-F824-4728-99FA-4ACCA933258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12430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85725"/>
            <a:ext cx="8229600" cy="67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981075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0"/>
            <a:r>
              <a:rPr lang="zh-TW" altLang="en-US" smtClean="0"/>
              <a:t>第三層</a:t>
            </a:r>
          </a:p>
          <a:p>
            <a:pPr lvl="1"/>
            <a:r>
              <a:rPr lang="zh-TW" altLang="en-US" smtClean="0"/>
              <a:t>第四層</a:t>
            </a:r>
          </a:p>
          <a:p>
            <a:pPr lvl="2"/>
            <a:r>
              <a:rPr lang="zh-TW" altLang="en-US" smtClean="0"/>
              <a:t>第五層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860AD66A-1645-418A-9603-0C972BABB7F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30" name="Rectangle 9"/>
          <p:cNvSpPr>
            <a:spLocks noChangeArrowheads="1"/>
          </p:cNvSpPr>
          <p:nvPr userDrawn="1"/>
        </p:nvSpPr>
        <p:spPr bwMode="auto">
          <a:xfrm>
            <a:off x="0" y="6281738"/>
            <a:ext cx="7235825" cy="576262"/>
          </a:xfrm>
          <a:prstGeom prst="rect">
            <a:avLst/>
          </a:prstGeom>
          <a:gradFill rotWithShape="1">
            <a:gsLst>
              <a:gs pos="0">
                <a:srgbClr val="006600"/>
              </a:gs>
              <a:gs pos="100000">
                <a:schemeClr val="folHlink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defRPr/>
            </a:pPr>
            <a:endParaRPr lang="zh-TW" altLang="zh-TW" sz="1800" b="1" smtClean="0">
              <a:latin typeface="Lucida Sans Unicode" pitchFamily="34" charset="0"/>
            </a:endParaRPr>
          </a:p>
        </p:txBody>
      </p:sp>
      <p:pic>
        <p:nvPicPr>
          <p:cNvPr id="2" name="Picture 10" descr="Sunon-Logo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288088"/>
            <a:ext cx="1871663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1"/>
          <p:cNvSpPr>
            <a:spLocks noChangeArrowheads="1"/>
          </p:cNvSpPr>
          <p:nvPr userDrawn="1"/>
        </p:nvSpPr>
        <p:spPr bwMode="auto">
          <a:xfrm>
            <a:off x="0" y="6453188"/>
            <a:ext cx="39354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Lucida Sans Unicode" pitchFamily="34" charset="0"/>
              </a:rPr>
              <a:t>www.sunon.com</a:t>
            </a:r>
            <a:endParaRPr lang="en-US" altLang="zh-TW" sz="900" dirty="0" smtClean="0">
              <a:solidFill>
                <a:schemeClr val="bg1"/>
              </a:solidFill>
              <a:latin typeface="Lucida Sans Unicode" pitchFamily="34" charset="0"/>
              <a:ea typeface="標楷體" pitchFamily="65" charset="-120"/>
            </a:endParaRPr>
          </a:p>
          <a:p>
            <a:pPr eaLnBrk="1" hangingPunct="1">
              <a:defRPr/>
            </a:pPr>
            <a:r>
              <a:rPr lang="en-US" altLang="zh-TW" sz="900" dirty="0" smtClean="0">
                <a:solidFill>
                  <a:schemeClr val="bg1"/>
                </a:solidFill>
                <a:latin typeface="Lucida Sans Unicode" pitchFamily="34" charset="0"/>
                <a:ea typeface="標楷體" pitchFamily="65" charset="-120"/>
              </a:rPr>
              <a:t>Copyright @ SUNON All rights reserved</a:t>
            </a:r>
          </a:p>
        </p:txBody>
      </p:sp>
      <p:sp>
        <p:nvSpPr>
          <p:cNvPr id="1033" name="Text Box 12"/>
          <p:cNvSpPr txBox="1">
            <a:spLocks noChangeArrowheads="1"/>
          </p:cNvSpPr>
          <p:nvPr userDrawn="1"/>
        </p:nvSpPr>
        <p:spPr bwMode="auto">
          <a:xfrm>
            <a:off x="4324350" y="6637338"/>
            <a:ext cx="3508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fld id="{5591F9B3-ADDE-4E92-9EE3-CB35EB5C0018}" type="slidenum">
              <a:rPr lang="en-US" altLang="zh-TW" sz="1000" b="1" smtClean="0">
                <a:solidFill>
                  <a:schemeClr val="bg1"/>
                </a:solidFill>
                <a:latin typeface="Lucida Sans Unicode" panose="020B0602030504020204" pitchFamily="34" charset="0"/>
              </a:rPr>
              <a:pPr algn="ctr" eaLnBrk="1" hangingPunct="1">
                <a:defRPr/>
              </a:pPr>
              <a:t>‹#›</a:t>
            </a:fld>
            <a:endParaRPr lang="en-US" altLang="zh-TW" sz="1000" b="1" smtClean="0">
              <a:solidFill>
                <a:schemeClr val="bg1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1034" name="Line 13"/>
          <p:cNvSpPr>
            <a:spLocks noChangeShapeType="1"/>
          </p:cNvSpPr>
          <p:nvPr userDrawn="1"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0905" r:id="rId1"/>
    <p:sldLayoutId id="2147500906" r:id="rId2"/>
    <p:sldLayoutId id="2147500907" r:id="rId3"/>
    <p:sldLayoutId id="2147500908" r:id="rId4"/>
    <p:sldLayoutId id="2147500909" r:id="rId5"/>
    <p:sldLayoutId id="2147500910" r:id="rId6"/>
    <p:sldLayoutId id="2147500911" r:id="rId7"/>
    <p:sldLayoutId id="2147500912" r:id="rId8"/>
    <p:sldLayoutId id="2147500913" r:id="rId9"/>
    <p:sldLayoutId id="2147500914" r:id="rId10"/>
    <p:sldLayoutId id="2147500915" r:id="rId11"/>
    <p:sldLayoutId id="2147500916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8000"/>
          </a:solidFill>
          <a:latin typeface="+mj-lt"/>
          <a:ea typeface="標楷體" pitchFamily="65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8000"/>
          </a:solidFill>
          <a:latin typeface="Lucida Sans Unicode" pitchFamily="34" charset="0"/>
          <a:ea typeface="標楷體" pitchFamily="65" charset="-120"/>
          <a:cs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8000"/>
          </a:solidFill>
          <a:latin typeface="Lucida Sans Unicode" pitchFamily="34" charset="0"/>
          <a:ea typeface="標楷體" pitchFamily="65" charset="-120"/>
          <a:cs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8000"/>
          </a:solidFill>
          <a:latin typeface="Lucida Sans Unicode" pitchFamily="34" charset="0"/>
          <a:ea typeface="標楷體" pitchFamily="65" charset="-120"/>
          <a:cs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8000"/>
          </a:solidFill>
          <a:latin typeface="Lucida Sans Unicode" pitchFamily="34" charset="0"/>
          <a:ea typeface="標楷體" pitchFamily="65" charset="-120"/>
          <a:cs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800" b="1">
          <a:solidFill>
            <a:srgbClr val="008000"/>
          </a:solidFill>
          <a:latin typeface="Lucida Sans Unicode" pitchFamily="34" charset="0"/>
          <a:ea typeface="DFKai-SB" pitchFamily="65" charset="-120"/>
          <a:cs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800" b="1">
          <a:solidFill>
            <a:srgbClr val="008000"/>
          </a:solidFill>
          <a:latin typeface="Lucida Sans Unicode" pitchFamily="34" charset="0"/>
          <a:ea typeface="DFKai-SB" pitchFamily="65" charset="-120"/>
          <a:cs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800" b="1">
          <a:solidFill>
            <a:srgbClr val="008000"/>
          </a:solidFill>
          <a:latin typeface="Lucida Sans Unicode" pitchFamily="34" charset="0"/>
          <a:ea typeface="DFKai-SB" pitchFamily="65" charset="-120"/>
          <a:cs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800" b="1">
          <a:solidFill>
            <a:srgbClr val="008000"/>
          </a:solidFill>
          <a:latin typeface="Lucida Sans Unicode" pitchFamily="34" charset="0"/>
          <a:ea typeface="DFKai-SB" pitchFamily="65" charset="-120"/>
          <a:cs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 b="1">
          <a:solidFill>
            <a:schemeClr val="tx1"/>
          </a:solidFill>
          <a:latin typeface="+mn-lt"/>
          <a:ea typeface="標楷體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latin typeface="+mn-lt"/>
          <a:ea typeface="標楷體" pitchFamily="65" charset="-12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 b="1">
          <a:solidFill>
            <a:schemeClr val="tx1"/>
          </a:solidFill>
          <a:latin typeface="+mn-lt"/>
          <a:ea typeface="標楷體" pitchFamily="65" charset="-12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latin typeface="Arial" pitchFamily="34" charset="0"/>
          <a:ea typeface="標楷體" pitchFamily="65" charset="-12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Arial" pitchFamily="34" charset="0"/>
          <a:ea typeface="標楷體" pitchFamily="65" charset="-12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Arial" pitchFamily="34" charset="0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Arial" pitchFamily="34" charset="0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Arial" pitchFamily="34" charset="0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Arial" pitchFamily="34" charset="0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04813"/>
            <a:ext cx="7772400" cy="1362075"/>
          </a:xfrm>
        </p:spPr>
        <p:txBody>
          <a:bodyPr/>
          <a:lstStyle/>
          <a:p>
            <a:pPr>
              <a:defRPr/>
            </a:pP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Erp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整合規劃部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月會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387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5024438"/>
            <a:ext cx="7772400" cy="1500187"/>
          </a:xfrm>
        </p:spPr>
        <p:txBody>
          <a:bodyPr/>
          <a:lstStyle/>
          <a:p>
            <a:endParaRPr lang="en-US" altLang="zh-TW" smtClean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標題 1"/>
          <p:cNvSpPr>
            <a:spLocks noGrp="1"/>
          </p:cNvSpPr>
          <p:nvPr>
            <p:ph type="title"/>
          </p:nvPr>
        </p:nvSpPr>
        <p:spPr>
          <a:xfrm>
            <a:off x="215900" y="33338"/>
            <a:ext cx="8229600" cy="679450"/>
          </a:xfrm>
        </p:spPr>
        <p:txBody>
          <a:bodyPr/>
          <a:lstStyle/>
          <a:p>
            <a:r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本月參與會議</a:t>
            </a:r>
          </a:p>
        </p:txBody>
      </p:sp>
      <p:graphicFrame>
        <p:nvGraphicFramePr>
          <p:cNvPr id="2" name="內容版面配置區 1"/>
          <p:cNvGraphicFramePr>
            <a:graphicFrameLocks noGrp="1"/>
          </p:cNvGraphicFramePr>
          <p:nvPr>
            <p:ph idx="1"/>
          </p:nvPr>
        </p:nvGraphicFramePr>
        <p:xfrm>
          <a:off x="25400" y="836613"/>
          <a:ext cx="9010650" cy="4376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118">
                  <a:extLst>
                    <a:ext uri="{9D8B030D-6E8A-4147-A177-3AD203B41FA5}">
                      <a16:colId xmlns:a16="http://schemas.microsoft.com/office/drawing/2014/main" val="2303006122"/>
                    </a:ext>
                  </a:extLst>
                </a:gridCol>
                <a:gridCol w="4536520">
                  <a:extLst>
                    <a:ext uri="{9D8B030D-6E8A-4147-A177-3AD203B41FA5}">
                      <a16:colId xmlns:a16="http://schemas.microsoft.com/office/drawing/2014/main" val="2764215480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511278945"/>
                    </a:ext>
                  </a:extLst>
                </a:gridCol>
                <a:gridCol w="1368149">
                  <a:extLst>
                    <a:ext uri="{9D8B030D-6E8A-4147-A177-3AD203B41FA5}">
                      <a16:colId xmlns:a16="http://schemas.microsoft.com/office/drawing/2014/main" val="3483086613"/>
                    </a:ext>
                  </a:extLst>
                </a:gridCol>
                <a:gridCol w="1223694">
                  <a:extLst>
                    <a:ext uri="{9D8B030D-6E8A-4147-A177-3AD203B41FA5}">
                      <a16:colId xmlns:a16="http://schemas.microsoft.com/office/drawing/2014/main" val="2455966250"/>
                    </a:ext>
                  </a:extLst>
                </a:gridCol>
              </a:tblGrid>
              <a:tr h="6403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項次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會議主題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42" marB="457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會議日期</a:t>
                      </a:r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</a:p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補充說明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42" marB="45742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召集人</a:t>
                      </a:r>
                      <a:endParaRPr lang="en-US" altLang="zh-TW" sz="1800" b="1" kern="120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35" marR="91435" marT="45742" marB="45742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參與單位</a:t>
                      </a:r>
                      <a:endParaRPr lang="en-US" altLang="zh-TW" sz="1800" b="1" kern="120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35" marR="91435" marT="45742" marB="45742" anchor="ctr"/>
                </a:tc>
                <a:extLst>
                  <a:ext uri="{0D108BD9-81ED-4DB2-BD59-A6C34878D82A}">
                    <a16:rowId xmlns:a16="http://schemas.microsoft.com/office/drawing/2014/main" val="3132568208"/>
                  </a:ext>
                </a:extLst>
              </a:tr>
              <a:tr h="3710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6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42" marB="45742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91435" marR="91435" marT="45742" marB="45742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91435" marR="91435" marT="45742" marB="45742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91435" marR="91435" marT="45742" marB="45742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91435" marR="91435" marT="45742" marB="45742"/>
                </a:tc>
                <a:extLst>
                  <a:ext uri="{0D108BD9-81ED-4DB2-BD59-A6C34878D82A}">
                    <a16:rowId xmlns:a16="http://schemas.microsoft.com/office/drawing/2014/main" val="2459239762"/>
                  </a:ext>
                </a:extLst>
              </a:tr>
              <a:tr h="6950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42" marB="45742" anchor="ctr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T="45716" marB="45716" anchor="ctr" horzOverflow="overflow"/>
                </a:tc>
                <a:extLst>
                  <a:ext uri="{0D108BD9-81ED-4DB2-BD59-A6C34878D82A}">
                    <a16:rowId xmlns:a16="http://schemas.microsoft.com/office/drawing/2014/main" val="3730770174"/>
                  </a:ext>
                </a:extLst>
              </a:tr>
              <a:tr h="6950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42" marB="45742" anchor="ctr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T="45716" marB="45716" anchor="ctr" horzOverflow="overflow"/>
                </a:tc>
                <a:extLst>
                  <a:ext uri="{0D108BD9-81ED-4DB2-BD59-A6C34878D82A}">
                    <a16:rowId xmlns:a16="http://schemas.microsoft.com/office/drawing/2014/main" val="1893151600"/>
                  </a:ext>
                </a:extLst>
              </a:tr>
              <a:tr h="69504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91435" marR="91435" marT="45742" marB="45742"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T="45716" marB="45716" anchor="ctr" horzOverflow="overflow"/>
                </a:tc>
                <a:extLst>
                  <a:ext uri="{0D108BD9-81ED-4DB2-BD59-A6C34878D82A}">
                    <a16:rowId xmlns:a16="http://schemas.microsoft.com/office/drawing/2014/main" val="1852982084"/>
                  </a:ext>
                </a:extLst>
              </a:tr>
              <a:tr h="64018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91435" marR="91435" marT="45742" marB="45742" anchor="ctr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T="45722" marB="45722" anchor="ctr" horzOverflow="overflow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T="45722" marB="45722" anchor="ctr" horzOverflow="overflow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T="45722" marB="45722" anchor="ctr" horzOverflow="overflow"/>
                </a:tc>
                <a:extLst>
                  <a:ext uri="{0D108BD9-81ED-4DB2-BD59-A6C34878D82A}">
                    <a16:rowId xmlns:a16="http://schemas.microsoft.com/office/drawing/2014/main" val="906058688"/>
                  </a:ext>
                </a:extLst>
              </a:tr>
              <a:tr h="64003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91435" marR="91435" marT="45742" marB="45742" anchor="ctr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T="45648" marB="45648" anchor="ctr" horzOverflow="overflow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T="45648" marB="45648" anchor="ctr" horzOverflow="overflow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T="45648" marB="45648" anchor="ctr" horzOverflow="overflow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T="45648" marB="45648" anchor="ctr" horzOverflow="overflow"/>
                </a:tc>
                <a:extLst>
                  <a:ext uri="{0D108BD9-81ED-4DB2-BD59-A6C34878D82A}">
                    <a16:rowId xmlns:a16="http://schemas.microsoft.com/office/drawing/2014/main" val="233814804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標題 1"/>
          <p:cNvSpPr>
            <a:spLocks noGrp="1"/>
          </p:cNvSpPr>
          <p:nvPr>
            <p:ph type="title"/>
          </p:nvPr>
        </p:nvSpPr>
        <p:spPr>
          <a:xfrm>
            <a:off x="215900" y="33338"/>
            <a:ext cx="8229600" cy="679450"/>
          </a:xfrm>
        </p:spPr>
        <p:txBody>
          <a:bodyPr/>
          <a:lstStyle/>
          <a:p>
            <a:r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已完成待上線</a:t>
            </a:r>
          </a:p>
        </p:txBody>
      </p:sp>
      <p:graphicFrame>
        <p:nvGraphicFramePr>
          <p:cNvPr id="2" name="內容版面配置區 1"/>
          <p:cNvGraphicFramePr>
            <a:graphicFrameLocks noGrp="1"/>
          </p:cNvGraphicFramePr>
          <p:nvPr>
            <p:ph idx="1"/>
          </p:nvPr>
        </p:nvGraphicFramePr>
        <p:xfrm>
          <a:off x="25400" y="836613"/>
          <a:ext cx="9010651" cy="2124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770">
                  <a:extLst>
                    <a:ext uri="{9D8B030D-6E8A-4147-A177-3AD203B41FA5}">
                      <a16:colId xmlns:a16="http://schemas.microsoft.com/office/drawing/2014/main" val="2303006122"/>
                    </a:ext>
                  </a:extLst>
                </a:gridCol>
                <a:gridCol w="3306790">
                  <a:extLst>
                    <a:ext uri="{9D8B030D-6E8A-4147-A177-3AD203B41FA5}">
                      <a16:colId xmlns:a16="http://schemas.microsoft.com/office/drawing/2014/main" val="2764215480"/>
                    </a:ext>
                  </a:extLst>
                </a:gridCol>
                <a:gridCol w="1347457">
                  <a:extLst>
                    <a:ext uri="{9D8B030D-6E8A-4147-A177-3AD203B41FA5}">
                      <a16:colId xmlns:a16="http://schemas.microsoft.com/office/drawing/2014/main" val="511278945"/>
                    </a:ext>
                  </a:extLst>
                </a:gridCol>
                <a:gridCol w="1347457">
                  <a:extLst>
                    <a:ext uri="{9D8B030D-6E8A-4147-A177-3AD203B41FA5}">
                      <a16:colId xmlns:a16="http://schemas.microsoft.com/office/drawing/2014/main" val="749013059"/>
                    </a:ext>
                  </a:extLst>
                </a:gridCol>
                <a:gridCol w="1326470">
                  <a:extLst>
                    <a:ext uri="{9D8B030D-6E8A-4147-A177-3AD203B41FA5}">
                      <a16:colId xmlns:a16="http://schemas.microsoft.com/office/drawing/2014/main" val="3483086613"/>
                    </a:ext>
                  </a:extLst>
                </a:gridCol>
                <a:gridCol w="1367707">
                  <a:extLst>
                    <a:ext uri="{9D8B030D-6E8A-4147-A177-3AD203B41FA5}">
                      <a16:colId xmlns:a16="http://schemas.microsoft.com/office/drawing/2014/main" val="2455966250"/>
                    </a:ext>
                  </a:extLst>
                </a:gridCol>
              </a:tblGrid>
              <a:tr h="64027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項次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4" marB="45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補充說明</a:t>
                      </a:r>
                      <a:endParaRPr lang="en-US" altLang="zh-TW" sz="180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4" marB="45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已完成日</a:t>
                      </a:r>
                      <a:endParaRPr lang="en-US" altLang="zh-TW" sz="180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4" marB="45734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預計上線日</a:t>
                      </a:r>
                      <a:endParaRPr lang="en-US" altLang="zh-TW" sz="1800" b="1" kern="120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35" marR="91435" marT="45734" marB="45734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需求人</a:t>
                      </a:r>
                      <a:endParaRPr lang="en-US" altLang="zh-TW" sz="1800" b="1" kern="120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35" marR="91435" marT="45734" marB="45734" anchor="ctr"/>
                </a:tc>
                <a:extLst>
                  <a:ext uri="{0D108BD9-81ED-4DB2-BD59-A6C34878D82A}">
                    <a16:rowId xmlns:a16="http://schemas.microsoft.com/office/drawing/2014/main" val="3132568208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6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35" marR="91435" marT="45734" marB="45734"/>
                </a:tc>
                <a:extLst>
                  <a:ext uri="{0D108BD9-81ED-4DB2-BD59-A6C34878D82A}">
                    <a16:rowId xmlns:a16="http://schemas.microsoft.com/office/drawing/2014/main" val="2459239762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16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35" marR="91435" marT="45734" marB="45734"/>
                </a:tc>
                <a:extLst>
                  <a:ext uri="{0D108BD9-81ED-4DB2-BD59-A6C34878D82A}">
                    <a16:rowId xmlns:a16="http://schemas.microsoft.com/office/drawing/2014/main" val="3730770174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16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/>
                    </a:p>
                  </a:txBody>
                  <a:tcPr marL="91435" marR="91435" marT="45734" marB="45734"/>
                </a:tc>
                <a:extLst>
                  <a:ext uri="{0D108BD9-81ED-4DB2-BD59-A6C34878D82A}">
                    <a16:rowId xmlns:a16="http://schemas.microsoft.com/office/drawing/2014/main" val="1893151600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16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91435" marR="91435"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34" marB="45734"/>
                </a:tc>
                <a:extLst>
                  <a:ext uri="{0D108BD9-81ED-4DB2-BD59-A6C34878D82A}">
                    <a16:rowId xmlns:a16="http://schemas.microsoft.com/office/drawing/2014/main" val="185298208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標題 1"/>
          <p:cNvSpPr>
            <a:spLocks noGrp="1"/>
          </p:cNvSpPr>
          <p:nvPr>
            <p:ph type="title"/>
          </p:nvPr>
        </p:nvSpPr>
        <p:spPr>
          <a:xfrm>
            <a:off x="215900" y="33338"/>
            <a:ext cx="8229600" cy="679450"/>
          </a:xfrm>
        </p:spPr>
        <p:txBody>
          <a:bodyPr/>
          <a:lstStyle/>
          <a:p>
            <a:r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年度專案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標題 1"/>
          <p:cNvSpPr>
            <a:spLocks noGrp="1"/>
          </p:cNvSpPr>
          <p:nvPr>
            <p:ph type="title"/>
          </p:nvPr>
        </p:nvSpPr>
        <p:spPr>
          <a:xfrm>
            <a:off x="215900" y="33338"/>
            <a:ext cx="8229600" cy="679450"/>
          </a:xfrm>
        </p:spPr>
        <p:txBody>
          <a:bodyPr/>
          <a:lstStyle/>
          <a:p>
            <a:r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重點專案</a:t>
            </a:r>
          </a:p>
        </p:txBody>
      </p:sp>
      <p:graphicFrame>
        <p:nvGraphicFramePr>
          <p:cNvPr id="2" name="內容版面配置區 1"/>
          <p:cNvGraphicFramePr>
            <a:graphicFrameLocks noGrp="1"/>
          </p:cNvGraphicFramePr>
          <p:nvPr>
            <p:ph idx="1"/>
          </p:nvPr>
        </p:nvGraphicFramePr>
        <p:xfrm>
          <a:off x="25400" y="836613"/>
          <a:ext cx="9010650" cy="3795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4469">
                  <a:extLst>
                    <a:ext uri="{9D8B030D-6E8A-4147-A177-3AD203B41FA5}">
                      <a16:colId xmlns:a16="http://schemas.microsoft.com/office/drawing/2014/main" val="2303006122"/>
                    </a:ext>
                  </a:extLst>
                </a:gridCol>
                <a:gridCol w="2304254">
                  <a:extLst>
                    <a:ext uri="{9D8B030D-6E8A-4147-A177-3AD203B41FA5}">
                      <a16:colId xmlns:a16="http://schemas.microsoft.com/office/drawing/2014/main" val="2764215480"/>
                    </a:ext>
                  </a:extLst>
                </a:gridCol>
                <a:gridCol w="1224138">
                  <a:extLst>
                    <a:ext uri="{9D8B030D-6E8A-4147-A177-3AD203B41FA5}">
                      <a16:colId xmlns:a16="http://schemas.microsoft.com/office/drawing/2014/main" val="511278945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3483086613"/>
                    </a:ext>
                  </a:extLst>
                </a:gridCol>
                <a:gridCol w="1367709">
                  <a:extLst>
                    <a:ext uri="{9D8B030D-6E8A-4147-A177-3AD203B41FA5}">
                      <a16:colId xmlns:a16="http://schemas.microsoft.com/office/drawing/2014/main" val="2455966250"/>
                    </a:ext>
                  </a:extLst>
                </a:gridCol>
              </a:tblGrid>
              <a:tr h="64033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9" marB="457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進度說明</a:t>
                      </a:r>
                      <a:endParaRPr lang="en-US" altLang="zh-TW" sz="180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9" marB="457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窗口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9" marB="4573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百分</a:t>
                      </a:r>
                      <a:endParaRPr lang="en-US" altLang="zh-TW" sz="1800" b="1" kern="120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TW" altLang="en-US" sz="1800" b="1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比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35" marR="91435" marT="45739" marB="4573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zh-TW" altLang="en-US" sz="1800" b="1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預計</a:t>
                      </a:r>
                      <a:r>
                        <a:rPr lang="en-US" altLang="zh-TW" sz="1800" b="1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</a:p>
                    <a:p>
                      <a:pPr marL="0" algn="ctr" defTabSz="914400" rtl="0" eaLnBrk="1" latinLnBrk="0" hangingPunct="1"/>
                      <a:r>
                        <a:rPr lang="zh-TW" altLang="en-US" sz="1800" b="1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上線日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35" marR="91435" marT="45739" marB="45739" anchor="ctr"/>
                </a:tc>
                <a:extLst>
                  <a:ext uri="{0D108BD9-81ED-4DB2-BD59-A6C34878D82A}">
                    <a16:rowId xmlns:a16="http://schemas.microsoft.com/office/drawing/2014/main" val="3132568208"/>
                  </a:ext>
                </a:extLst>
              </a:tr>
              <a:tr h="204240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91435" marR="91435" marT="45739" marB="45739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91435" marR="91435" marT="45739" marB="45739"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91435" marR="91435" marT="45739" marB="45739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9" marB="45739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91435" marR="91435" marT="45739" marB="45739" anchor="ctr"/>
                </a:tc>
                <a:extLst>
                  <a:ext uri="{0D108BD9-81ED-4DB2-BD59-A6C34878D82A}">
                    <a16:rowId xmlns:a16="http://schemas.microsoft.com/office/drawing/2014/main" val="2459239762"/>
                  </a:ext>
                </a:extLst>
              </a:tr>
              <a:tr h="37099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9" marB="45739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9" marB="45739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91435" marR="91435" marT="45739" marB="45739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91435" marR="91435" marT="45739" marB="4573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35" marR="91435" marT="45739" marB="45739"/>
                </a:tc>
                <a:extLst>
                  <a:ext uri="{0D108BD9-81ED-4DB2-BD59-A6C34878D82A}">
                    <a16:rowId xmlns:a16="http://schemas.microsoft.com/office/drawing/2014/main" val="3730770174"/>
                  </a:ext>
                </a:extLst>
              </a:tr>
              <a:tr h="37099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9" marB="45739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9" marB="45739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91435" marR="91435" marT="45739" marB="45739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39" marB="4573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/>
                    </a:p>
                  </a:txBody>
                  <a:tcPr marL="91435" marR="91435" marT="45739" marB="45739"/>
                </a:tc>
                <a:extLst>
                  <a:ext uri="{0D108BD9-81ED-4DB2-BD59-A6C34878D82A}">
                    <a16:rowId xmlns:a16="http://schemas.microsoft.com/office/drawing/2014/main" val="1893151600"/>
                  </a:ext>
                </a:extLst>
              </a:tr>
              <a:tr h="37099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5" marR="91435" marT="45739" marB="45739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39" marB="45739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39" marB="45739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91435" marR="91435" marT="45739" marB="45739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39" marB="45739"/>
                </a:tc>
                <a:extLst>
                  <a:ext uri="{0D108BD9-81ED-4DB2-BD59-A6C34878D82A}">
                    <a16:rowId xmlns:a16="http://schemas.microsoft.com/office/drawing/2014/main" val="185298208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標題 1"/>
          <p:cNvSpPr>
            <a:spLocks noGrp="1"/>
          </p:cNvSpPr>
          <p:nvPr>
            <p:ph type="title"/>
          </p:nvPr>
        </p:nvSpPr>
        <p:spPr>
          <a:xfrm>
            <a:off x="215900" y="33338"/>
            <a:ext cx="8229600" cy="679450"/>
          </a:xfrm>
        </p:spPr>
        <p:txBody>
          <a:bodyPr/>
          <a:lstStyle/>
          <a:p>
            <a:r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本月工作報告</a:t>
            </a:r>
            <a:r>
              <a:rPr lang="en-US" altLang="zh-TW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正宜</a:t>
            </a:r>
            <a:r>
              <a:rPr lang="en-US" altLang="zh-TW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(1/1)</a:t>
            </a:r>
            <a:endParaRPr lang="zh-TW" altLang="en-US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2" name="內容版面配置區 1"/>
          <p:cNvGraphicFramePr>
            <a:graphicFrameLocks noGrp="1"/>
          </p:cNvGraphicFramePr>
          <p:nvPr>
            <p:ph idx="1"/>
          </p:nvPr>
        </p:nvGraphicFramePr>
        <p:xfrm>
          <a:off x="25400" y="836613"/>
          <a:ext cx="9010650" cy="3517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520">
                  <a:extLst>
                    <a:ext uri="{9D8B030D-6E8A-4147-A177-3AD203B41FA5}">
                      <a16:colId xmlns:a16="http://schemas.microsoft.com/office/drawing/2014/main" val="2303006122"/>
                    </a:ext>
                  </a:extLst>
                </a:gridCol>
                <a:gridCol w="5050920">
                  <a:extLst>
                    <a:ext uri="{9D8B030D-6E8A-4147-A177-3AD203B41FA5}">
                      <a16:colId xmlns:a16="http://schemas.microsoft.com/office/drawing/2014/main" val="3572056550"/>
                    </a:ext>
                  </a:extLst>
                </a:gridCol>
                <a:gridCol w="720045">
                  <a:extLst>
                    <a:ext uri="{9D8B030D-6E8A-4147-A177-3AD203B41FA5}">
                      <a16:colId xmlns:a16="http://schemas.microsoft.com/office/drawing/2014/main" val="511278945"/>
                    </a:ext>
                  </a:extLst>
                </a:gridCol>
                <a:gridCol w="1512094">
                  <a:extLst>
                    <a:ext uri="{9D8B030D-6E8A-4147-A177-3AD203B41FA5}">
                      <a16:colId xmlns:a16="http://schemas.microsoft.com/office/drawing/2014/main" val="3483086613"/>
                    </a:ext>
                  </a:extLst>
                </a:gridCol>
                <a:gridCol w="1152071">
                  <a:extLst>
                    <a:ext uri="{9D8B030D-6E8A-4147-A177-3AD203B41FA5}">
                      <a16:colId xmlns:a16="http://schemas.microsoft.com/office/drawing/2014/main" val="2455966250"/>
                    </a:ext>
                  </a:extLst>
                </a:gridCol>
              </a:tblGrid>
              <a:tr h="64012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項次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工作重點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23" marB="457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百分比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23" marB="45723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zh-TW" altLang="en-US" sz="1800" b="1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預計</a:t>
                      </a:r>
                      <a:r>
                        <a:rPr lang="en-US" altLang="zh-TW" sz="1800" b="1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</a:p>
                    <a:p>
                      <a:pPr marL="0" algn="ctr" defTabSz="914400" rtl="0" eaLnBrk="1" latinLnBrk="0" hangingPunct="1"/>
                      <a:r>
                        <a:rPr lang="zh-TW" altLang="en-US" sz="1800" b="1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完成日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30" marR="91430" marT="45723" marB="45723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需求人</a:t>
                      </a:r>
                      <a:endParaRPr lang="en-US" altLang="zh-TW" sz="1800" b="1" kern="120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30" marR="91430" marT="45723" marB="45723" anchor="ctr"/>
                </a:tc>
                <a:extLst>
                  <a:ext uri="{0D108BD9-81ED-4DB2-BD59-A6C34878D82A}">
                    <a16:rowId xmlns:a16="http://schemas.microsoft.com/office/drawing/2014/main" val="3132568208"/>
                  </a:ext>
                </a:extLst>
              </a:tr>
              <a:tr h="3708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800" b="0" i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23" marB="45723" anchor="ctr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KS WMS </a:t>
                      </a:r>
                      <a:r>
                        <a:rPr lang="zh-TW" alt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上線專案</a:t>
                      </a:r>
                      <a:endParaRPr lang="en-US" altLang="zh-TW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19" marB="0" anchor="ctr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</a:t>
                      </a:r>
                      <a:endParaRPr lang="zh-TW" altLang="en-US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35" marR="91435" marT="45661" marB="45661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8313" marR="8313" marT="8303" marB="0" anchor="ctr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重點專案</a:t>
                      </a:r>
                      <a:endParaRPr lang="en-US" altLang="zh-TW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8313" marR="8313" marT="8303" marB="0" anchor="ctr"/>
                </a:tc>
                <a:extLst>
                  <a:ext uri="{0D108BD9-81ED-4DB2-BD59-A6C34878D82A}">
                    <a16:rowId xmlns:a16="http://schemas.microsoft.com/office/drawing/2014/main" val="2459239762"/>
                  </a:ext>
                </a:extLst>
              </a:tr>
              <a:tr h="8324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1800" b="0" i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23" marB="45723" anchor="ctr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BH AWMS </a:t>
                      </a:r>
                      <a:r>
                        <a:rPr lang="zh-TW" alt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上線專案 </a:t>
                      </a:r>
                      <a:endParaRPr lang="en-US" altLang="zh-TW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zh-TW" alt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外包退料測試</a:t>
                      </a:r>
                      <a:r>
                        <a:rPr lang="en-US" altLang="zh-TW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zh-TW" alt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四方結轉</a:t>
                      </a:r>
                      <a:r>
                        <a:rPr lang="en-US" altLang="zh-TW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2/2</a:t>
                      </a:r>
                      <a:r>
                        <a:rPr lang="zh-TW" alt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上線</a:t>
                      </a:r>
                      <a:endParaRPr lang="en-US" altLang="zh-TW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19" marB="0" anchor="ctr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</a:t>
                      </a:r>
                      <a:endParaRPr lang="zh-TW" altLang="en-US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35" marR="91435" marT="45661" marB="45661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8313" marR="8313" marT="8303" marB="0" anchor="ctr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重點專案</a:t>
                      </a:r>
                      <a:endParaRPr lang="en-US" altLang="zh-TW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8313" marR="8313" marT="8303" marB="0" anchor="ctr"/>
                </a:tc>
                <a:extLst>
                  <a:ext uri="{0D108BD9-81ED-4DB2-BD59-A6C34878D82A}">
                    <a16:rowId xmlns:a16="http://schemas.microsoft.com/office/drawing/2014/main" val="3730770174"/>
                  </a:ext>
                </a:extLst>
              </a:tr>
              <a:tr h="5581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1800" b="0" i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23" marB="45723" anchor="ctr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AI </a:t>
                      </a:r>
                      <a:r>
                        <a:rPr lang="zh-TW" alt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測試</a:t>
                      </a:r>
                      <a:endParaRPr lang="en-US" altLang="zh-TW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</a:t>
                      </a:r>
                      <a:r>
                        <a:rPr lang="zh-TW" alt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工作報告產生測試</a:t>
                      </a:r>
                      <a:endParaRPr lang="en-US" altLang="zh-TW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18" marB="0" anchor="ctr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</a:t>
                      </a:r>
                      <a:endParaRPr lang="zh-TW" altLang="en-US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35" marR="91435" marT="45661" marB="45661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8313" marR="8313" marT="8303" marB="0" anchor="ctr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重點專案</a:t>
                      </a:r>
                      <a:endParaRPr lang="en-US" altLang="zh-TW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8313" marR="8313" marT="8303" marB="0" anchor="ctr"/>
                </a:tc>
                <a:extLst>
                  <a:ext uri="{0D108BD9-81ED-4DB2-BD59-A6C34878D82A}">
                    <a16:rowId xmlns:a16="http://schemas.microsoft.com/office/drawing/2014/main" val="1893151600"/>
                  </a:ext>
                </a:extLst>
              </a:tr>
              <a:tr h="5581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1800" b="0" i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23" marB="45723" anchor="ctr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2025_</a:t>
                      </a:r>
                      <a:r>
                        <a:rPr lang="zh-TW" alt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行政稽核資料提供</a:t>
                      </a:r>
                      <a:endParaRPr lang="en-US" altLang="zh-TW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</a:t>
                      </a: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IT260130010</a:t>
                      </a:r>
                      <a:endParaRPr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18" marB="0" anchor="ctr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100</a:t>
                      </a:r>
                      <a:endParaRPr lang="zh-TW" altLang="en-US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18" marB="0" anchor="ctr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2026/02/03</a:t>
                      </a:r>
                      <a:endParaRPr lang="zh-TW" altLang="en-US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8313" marR="8313" marT="8304" marB="0" anchor="ctr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張俐如</a:t>
                      </a:r>
                      <a:endParaRPr lang="en-US" altLang="zh-TW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8313" marR="8313" marT="8304" marB="0" anchor="ctr"/>
                </a:tc>
                <a:extLst>
                  <a:ext uri="{0D108BD9-81ED-4DB2-BD59-A6C34878D82A}">
                    <a16:rowId xmlns:a16="http://schemas.microsoft.com/office/drawing/2014/main" val="1852982084"/>
                  </a:ext>
                </a:extLst>
              </a:tr>
              <a:tr h="5581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1800" b="0" i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23" marB="45723" anchor="ctr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廠商索賠扣款資料拋入</a:t>
                      </a: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AP</a:t>
                      </a:r>
                      <a:r>
                        <a:rPr lang="zh-TW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後又被手動取消的單據</a:t>
                      </a:r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進行通知 </a:t>
                      </a: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, </a:t>
                      </a:r>
                      <a:r>
                        <a:rPr lang="zh-TW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以利管控</a:t>
                      </a:r>
                      <a:endParaRPr lang="en-US" altLang="zh-TW" sz="1800" b="0" i="0" u="none" strike="noStrike" kern="1200" dirty="0" smtClean="0">
                        <a:solidFill>
                          <a:srgbClr val="00206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20" marB="0" anchor="ctr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100</a:t>
                      </a:r>
                      <a:endParaRPr lang="zh-TW" altLang="en-US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35" marR="91435" marT="45667" marB="45667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2026/02/02</a:t>
                      </a:r>
                      <a:endParaRPr lang="zh-TW" altLang="en-US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8313" marR="8313" marT="8304" marB="0" anchor="ctr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洪湘涵</a:t>
                      </a:r>
                      <a:endParaRPr lang="en-US" altLang="zh-TW" sz="1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8313" marR="8313" marT="8304" marB="0" anchor="ctr"/>
                </a:tc>
                <a:extLst>
                  <a:ext uri="{0D108BD9-81ED-4DB2-BD59-A6C34878D82A}">
                    <a16:rowId xmlns:a16="http://schemas.microsoft.com/office/drawing/2014/main" val="265623844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215900" y="33338"/>
            <a:ext cx="8229600" cy="679450"/>
          </a:xfrm>
        </p:spPr>
        <p:txBody>
          <a:bodyPr/>
          <a:lstStyle/>
          <a:p>
            <a:r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工作排程</a:t>
            </a:r>
            <a:r>
              <a:rPr lang="en-US" altLang="zh-TW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正宜</a:t>
            </a:r>
            <a:r>
              <a:rPr lang="en-US" altLang="zh-TW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(1/1)</a:t>
            </a:r>
            <a:endParaRPr lang="zh-TW" altLang="en-US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2" name="內容版面配置區 1"/>
          <p:cNvGraphicFramePr>
            <a:graphicFrameLocks noGrp="1"/>
          </p:cNvGraphicFramePr>
          <p:nvPr>
            <p:ph idx="1"/>
          </p:nvPr>
        </p:nvGraphicFramePr>
        <p:xfrm>
          <a:off x="25400" y="814388"/>
          <a:ext cx="9010650" cy="3489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143">
                  <a:extLst>
                    <a:ext uri="{9D8B030D-6E8A-4147-A177-3AD203B41FA5}">
                      <a16:colId xmlns:a16="http://schemas.microsoft.com/office/drawing/2014/main" val="2303006122"/>
                    </a:ext>
                  </a:extLst>
                </a:gridCol>
                <a:gridCol w="1296058">
                  <a:extLst>
                    <a:ext uri="{9D8B030D-6E8A-4147-A177-3AD203B41FA5}">
                      <a16:colId xmlns:a16="http://schemas.microsoft.com/office/drawing/2014/main" val="3572056550"/>
                    </a:ext>
                  </a:extLst>
                </a:gridCol>
                <a:gridCol w="1296079">
                  <a:extLst>
                    <a:ext uri="{9D8B030D-6E8A-4147-A177-3AD203B41FA5}">
                      <a16:colId xmlns:a16="http://schemas.microsoft.com/office/drawing/2014/main" val="2764215480"/>
                    </a:ext>
                  </a:extLst>
                </a:gridCol>
                <a:gridCol w="3292740">
                  <a:extLst>
                    <a:ext uri="{9D8B030D-6E8A-4147-A177-3AD203B41FA5}">
                      <a16:colId xmlns:a16="http://schemas.microsoft.com/office/drawing/2014/main" val="511278945"/>
                    </a:ext>
                  </a:extLst>
                </a:gridCol>
                <a:gridCol w="1027527">
                  <a:extLst>
                    <a:ext uri="{9D8B030D-6E8A-4147-A177-3AD203B41FA5}">
                      <a16:colId xmlns:a16="http://schemas.microsoft.com/office/drawing/2014/main" val="3483086613"/>
                    </a:ext>
                  </a:extLst>
                </a:gridCol>
                <a:gridCol w="1656103">
                  <a:extLst>
                    <a:ext uri="{9D8B030D-6E8A-4147-A177-3AD203B41FA5}">
                      <a16:colId xmlns:a16="http://schemas.microsoft.com/office/drawing/2014/main" val="3853153908"/>
                    </a:ext>
                  </a:extLst>
                </a:gridCol>
              </a:tblGrid>
              <a:tr h="64040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項次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44" marB="457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預計</a:t>
                      </a:r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開始日</a:t>
                      </a:r>
                      <a:endParaRPr lang="en-US" altLang="zh-TW" sz="180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44" marB="457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預計</a:t>
                      </a:r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完成日</a:t>
                      </a:r>
                      <a:endParaRPr lang="en-US" altLang="zh-TW" sz="180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44" marB="457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專案名稱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44" marB="45744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需求人</a:t>
                      </a:r>
                      <a:endParaRPr lang="en-US" altLang="zh-TW" sz="1800" b="1" kern="120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30" marR="91430" marT="45744" marB="45744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電子表單</a:t>
                      </a:r>
                      <a:endParaRPr lang="en-US" altLang="zh-TW" sz="1800" b="1" kern="120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30" marR="91430" marT="45744" marB="45744" anchor="ctr"/>
                </a:tc>
                <a:extLst>
                  <a:ext uri="{0D108BD9-81ED-4DB2-BD59-A6C34878D82A}">
                    <a16:rowId xmlns:a16="http://schemas.microsoft.com/office/drawing/2014/main" val="3132568208"/>
                  </a:ext>
                </a:extLst>
              </a:tr>
              <a:tr h="371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44" marB="45744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2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KS WMS </a:t>
                      </a:r>
                      <a:r>
                        <a:rPr lang="zh-TW" alt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上線專案</a:t>
                      </a: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重點專案</a:t>
                      </a:r>
                      <a:endParaRPr lang="zh-TW" alt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27" marB="0" anchor="ctr"/>
                </a:tc>
                <a:extLst>
                  <a:ext uri="{0D108BD9-81ED-4DB2-BD59-A6C34878D82A}">
                    <a16:rowId xmlns:a16="http://schemas.microsoft.com/office/drawing/2014/main" val="2459239762"/>
                  </a:ext>
                </a:extLst>
              </a:tr>
              <a:tr h="3710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44" marB="45744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2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BH WMS </a:t>
                      </a:r>
                      <a:r>
                        <a:rPr lang="zh-TW" alt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上線專案</a:t>
                      </a: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重點專案</a:t>
                      </a:r>
                      <a:endParaRPr lang="zh-TW" alt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27" marB="0" anchor="ctr"/>
                </a:tc>
                <a:extLst>
                  <a:ext uri="{0D108BD9-81ED-4DB2-BD59-A6C34878D82A}">
                    <a16:rowId xmlns:a16="http://schemas.microsoft.com/office/drawing/2014/main" val="3730770174"/>
                  </a:ext>
                </a:extLst>
              </a:tr>
              <a:tr h="49731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44" marB="45744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2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2026/4/30</a:t>
                      </a: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配合</a:t>
                      </a:r>
                      <a:r>
                        <a:rPr lang="en-US" altLang="zh-TW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WMS</a:t>
                      </a:r>
                      <a:r>
                        <a:rPr lang="zh-TW" alt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系統導入，</a:t>
                      </a:r>
                      <a:r>
                        <a:rPr lang="en-US" altLang="zh-TW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KS</a:t>
                      </a:r>
                      <a:r>
                        <a:rPr lang="zh-TW" alt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掛號入料管控機制改</a:t>
                      </a:r>
                      <a:r>
                        <a:rPr lang="en-US" altLang="zh-TW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Portal</a:t>
                      </a:r>
                      <a:r>
                        <a:rPr lang="zh-TW" alt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控管</a:t>
                      </a: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楊瓊惠</a:t>
                      </a: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IT250812019</a:t>
                      </a:r>
                    </a:p>
                  </a:txBody>
                  <a:tcPr marL="9525" marR="9525" marT="9528" marB="0" anchor="ctr"/>
                </a:tc>
                <a:extLst>
                  <a:ext uri="{0D108BD9-81ED-4DB2-BD59-A6C34878D82A}">
                    <a16:rowId xmlns:a16="http://schemas.microsoft.com/office/drawing/2014/main" val="1893151600"/>
                  </a:ext>
                </a:extLst>
              </a:tr>
              <a:tr h="49731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44" marB="45744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2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2026/6/30</a:t>
                      </a: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超額供給</a:t>
                      </a:r>
                      <a:br>
                        <a:rPr lang="zh-TW" alt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--</a:t>
                      </a:r>
                      <a:r>
                        <a:rPr lang="zh-TW" alt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驗證測試</a:t>
                      </a: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楊瓊惠</a:t>
                      </a: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525" marR="9525" marT="9528" marB="0" anchor="ctr"/>
                </a:tc>
                <a:extLst>
                  <a:ext uri="{0D108BD9-81ED-4DB2-BD59-A6C34878D82A}">
                    <a16:rowId xmlns:a16="http://schemas.microsoft.com/office/drawing/2014/main" val="1852982084"/>
                  </a:ext>
                </a:extLst>
              </a:tr>
              <a:tr h="3710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44" marB="45744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2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2026/6/30</a:t>
                      </a: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廠商索賠優化</a:t>
                      </a: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洪湘涵</a:t>
                      </a: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IT230508028</a:t>
                      </a:r>
                    </a:p>
                  </a:txBody>
                  <a:tcPr marL="9525" marR="9525" marT="9528" marB="0" anchor="ctr"/>
                </a:tc>
                <a:extLst>
                  <a:ext uri="{0D108BD9-81ED-4DB2-BD59-A6C34878D82A}">
                    <a16:rowId xmlns:a16="http://schemas.microsoft.com/office/drawing/2014/main" val="4156742296"/>
                  </a:ext>
                </a:extLst>
              </a:tr>
              <a:tr h="74120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30" marR="91430" marT="45744" marB="45744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2026/10/31</a:t>
                      </a: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集團報價優化的需求規劃</a:t>
                      </a:r>
                      <a:b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--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第一階段</a:t>
                      </a: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:BPM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修改簽核流程</a:t>
                      </a: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</a:t>
                      </a: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b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--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第二階段</a:t>
                      </a: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:Portal/ERP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產生報價資訊</a:t>
                      </a: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洪湘涵</a:t>
                      </a:r>
                    </a:p>
                  </a:txBody>
                  <a:tcPr marL="9525" marR="9525" marT="9528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27" marB="0" anchor="ctr"/>
                </a:tc>
                <a:extLst>
                  <a:ext uri="{0D108BD9-81ED-4DB2-BD59-A6C34878D82A}">
                    <a16:rowId xmlns:a16="http://schemas.microsoft.com/office/drawing/2014/main" val="142005924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標題 1"/>
          <p:cNvSpPr>
            <a:spLocks noGrp="1"/>
          </p:cNvSpPr>
          <p:nvPr>
            <p:ph type="title"/>
          </p:nvPr>
        </p:nvSpPr>
        <p:spPr>
          <a:xfrm>
            <a:off x="215900" y="33338"/>
            <a:ext cx="8229600" cy="679450"/>
          </a:xfrm>
        </p:spPr>
        <p:txBody>
          <a:bodyPr/>
          <a:lstStyle/>
          <a:p>
            <a:r>
              <a:rPr lang="en-US" altLang="zh-TW" smtClean="0"/>
              <a:t>AI</a:t>
            </a:r>
            <a:r>
              <a:rPr lang="zh-TW" altLang="en-US" smtClean="0"/>
              <a:t>運用</a:t>
            </a:r>
          </a:p>
        </p:txBody>
      </p:sp>
      <p:graphicFrame>
        <p:nvGraphicFramePr>
          <p:cNvPr id="2" name="內容版面配置區 1"/>
          <p:cNvGraphicFramePr>
            <a:graphicFrameLocks noGrp="1"/>
          </p:cNvGraphicFramePr>
          <p:nvPr>
            <p:ph idx="1"/>
          </p:nvPr>
        </p:nvGraphicFramePr>
        <p:xfrm>
          <a:off x="25400" y="836613"/>
          <a:ext cx="9036050" cy="2124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2704">
                  <a:extLst>
                    <a:ext uri="{9D8B030D-6E8A-4147-A177-3AD203B41FA5}">
                      <a16:colId xmlns:a16="http://schemas.microsoft.com/office/drawing/2014/main" val="276421548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51127894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48308661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455966250"/>
                    </a:ext>
                  </a:extLst>
                </a:gridCol>
                <a:gridCol w="1033066">
                  <a:extLst>
                    <a:ext uri="{9D8B030D-6E8A-4147-A177-3AD203B41FA5}">
                      <a16:colId xmlns:a16="http://schemas.microsoft.com/office/drawing/2014/main" val="1927984598"/>
                    </a:ext>
                  </a:extLst>
                </a:gridCol>
              </a:tblGrid>
              <a:tr h="64027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預計時數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實際時數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開發效率</a:t>
                      </a:r>
                      <a:endParaRPr lang="en-US" altLang="zh-TW" sz="180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提升率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工時</a:t>
                      </a:r>
                      <a:endParaRPr lang="en-US" altLang="zh-TW" sz="180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節省率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 anchor="ctr"/>
                </a:tc>
                <a:extLst>
                  <a:ext uri="{0D108BD9-81ED-4DB2-BD59-A6C34878D82A}">
                    <a16:rowId xmlns:a16="http://schemas.microsoft.com/office/drawing/2014/main" val="3132568208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endParaRPr lang="zh-TW" altLang="en-US" sz="1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extLst>
                  <a:ext uri="{0D108BD9-81ED-4DB2-BD59-A6C34878D82A}">
                    <a16:rowId xmlns:a16="http://schemas.microsoft.com/office/drawing/2014/main" val="2459239762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endParaRPr lang="zh-TW" altLang="en-US" sz="1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endParaRPr lang="zh-TW" altLang="en-US" sz="1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endParaRPr lang="zh-TW" altLang="en-US" sz="1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extLst>
                  <a:ext uri="{0D108BD9-81ED-4DB2-BD59-A6C34878D82A}">
                    <a16:rowId xmlns:a16="http://schemas.microsoft.com/office/drawing/2014/main" val="3730770174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endParaRPr lang="zh-TW" altLang="en-US" sz="1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endParaRPr lang="zh-TW" altLang="en-US" sz="1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extLst>
                  <a:ext uri="{0D108BD9-81ED-4DB2-BD59-A6C34878D82A}">
                    <a16:rowId xmlns:a16="http://schemas.microsoft.com/office/drawing/2014/main" val="1893151600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endParaRPr lang="zh-TW" altLang="en-US" sz="1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endParaRPr lang="zh-TW" altLang="en-US" sz="1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endParaRPr lang="zh-TW" altLang="en-US" sz="1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endParaRPr lang="zh-TW" altLang="en-US" sz="1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4" marB="45734"/>
                </a:tc>
                <a:extLst>
                  <a:ext uri="{0D108BD9-81ED-4DB2-BD59-A6C34878D82A}">
                    <a16:rowId xmlns:a16="http://schemas.microsoft.com/office/drawing/2014/main" val="1852982084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07950" y="3213100"/>
          <a:ext cx="8785225" cy="576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85225">
                  <a:extLst>
                    <a:ext uri="{9D8B030D-6E8A-4147-A177-3AD203B41FA5}">
                      <a16:colId xmlns:a16="http://schemas.microsoft.com/office/drawing/2014/main" val="1559015608"/>
                    </a:ext>
                  </a:extLst>
                </a:gridCol>
              </a:tblGrid>
              <a:tr h="28813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4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</a:t>
                      </a:r>
                      <a:r>
                        <a:rPr lang="zh-TW" altLang="en-US" sz="14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開發</a:t>
                      </a:r>
                      <a:r>
                        <a:rPr lang="zh-TW" altLang="en-US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效率提升率 </a:t>
                      </a:r>
                      <a:r>
                        <a:rPr lang="en-US" altLang="zh-TW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 </a:t>
                      </a:r>
                      <a:r>
                        <a:rPr lang="zh-TW" altLang="en-US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原工時 </a:t>
                      </a:r>
                      <a:r>
                        <a:rPr lang="en-US" altLang="zh-TW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 </a:t>
                      </a:r>
                      <a:r>
                        <a:rPr lang="zh-TW" altLang="en-US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實際工時 − </a:t>
                      </a:r>
                      <a:r>
                        <a:rPr lang="en-US" altLang="zh-TW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281233"/>
                  </a:ext>
                </a:extLst>
              </a:tr>
              <a:tr h="28813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4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</a:t>
                      </a:r>
                      <a:r>
                        <a:rPr lang="zh-TW" altLang="en-US" sz="14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工時</a:t>
                      </a:r>
                      <a:r>
                        <a:rPr lang="zh-TW" altLang="en-US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節省率 </a:t>
                      </a:r>
                      <a:r>
                        <a:rPr lang="en-US" altLang="zh-TW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 (</a:t>
                      </a:r>
                      <a:r>
                        <a:rPr lang="zh-TW" altLang="en-US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原工時 − 實際工時</a:t>
                      </a:r>
                      <a:r>
                        <a:rPr lang="en-US" altLang="zh-TW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 / </a:t>
                      </a:r>
                      <a:r>
                        <a:rPr lang="zh-TW" altLang="en-US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原工時 </a:t>
                      </a:r>
                      <a:r>
                        <a:rPr lang="en-US" altLang="zh-TW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× 100%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15598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標題 1"/>
          <p:cNvSpPr>
            <a:spLocks noGrp="1"/>
          </p:cNvSpPr>
          <p:nvPr>
            <p:ph type="title"/>
          </p:nvPr>
        </p:nvSpPr>
        <p:spPr>
          <a:xfrm>
            <a:off x="215900" y="33338"/>
            <a:ext cx="8229600" cy="679450"/>
          </a:xfrm>
        </p:spPr>
        <p:txBody>
          <a:bodyPr/>
          <a:lstStyle/>
          <a:p>
            <a:r>
              <a:rPr lang="zh-TW" altLang="en-US" smtClean="0"/>
              <a:t>問題</a:t>
            </a:r>
            <a:r>
              <a:rPr lang="en-US" altLang="zh-TW" smtClean="0"/>
              <a:t>/</a:t>
            </a:r>
            <a:r>
              <a:rPr lang="zh-TW" altLang="en-US" smtClean="0"/>
              <a:t>議題討論</a:t>
            </a:r>
          </a:p>
        </p:txBody>
      </p:sp>
      <p:graphicFrame>
        <p:nvGraphicFramePr>
          <p:cNvPr id="6" name="內容版面配置區 1"/>
          <p:cNvGraphicFramePr>
            <a:graphicFrameLocks noGrp="1"/>
          </p:cNvGraphicFramePr>
          <p:nvPr>
            <p:ph idx="1"/>
          </p:nvPr>
        </p:nvGraphicFramePr>
        <p:xfrm>
          <a:off x="25400" y="836613"/>
          <a:ext cx="9036050" cy="2124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66880">
                  <a:extLst>
                    <a:ext uri="{9D8B030D-6E8A-4147-A177-3AD203B41FA5}">
                      <a16:colId xmlns:a16="http://schemas.microsoft.com/office/drawing/2014/main" val="2764215480"/>
                    </a:ext>
                  </a:extLst>
                </a:gridCol>
                <a:gridCol w="1969170">
                  <a:extLst>
                    <a:ext uri="{9D8B030D-6E8A-4147-A177-3AD203B41FA5}">
                      <a16:colId xmlns:a16="http://schemas.microsoft.com/office/drawing/2014/main" val="511278945"/>
                    </a:ext>
                  </a:extLst>
                </a:gridCol>
              </a:tblGrid>
              <a:tr h="64015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問題</a:t>
                      </a:r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議題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8" marB="457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</a:t>
                      </a:r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(Open/Closed)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8" marB="45738"/>
                </a:tc>
                <a:extLst>
                  <a:ext uri="{0D108BD9-81ED-4DB2-BD59-A6C34878D82A}">
                    <a16:rowId xmlns:a16="http://schemas.microsoft.com/office/drawing/2014/main" val="3132568208"/>
                  </a:ext>
                </a:extLst>
              </a:tr>
              <a:tr h="370979">
                <a:tc>
                  <a:txBody>
                    <a:bodyPr/>
                    <a:lstStyle/>
                    <a:p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部會工作報告調整說明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8" marB="45738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8" marB="45738"/>
                </a:tc>
                <a:extLst>
                  <a:ext uri="{0D108BD9-81ED-4DB2-BD59-A6C34878D82A}">
                    <a16:rowId xmlns:a16="http://schemas.microsoft.com/office/drawing/2014/main" val="2459239762"/>
                  </a:ext>
                </a:extLst>
              </a:tr>
              <a:tr h="370979"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8" marB="45738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8" marB="45738"/>
                </a:tc>
                <a:extLst>
                  <a:ext uri="{0D108BD9-81ED-4DB2-BD59-A6C34878D82A}">
                    <a16:rowId xmlns:a16="http://schemas.microsoft.com/office/drawing/2014/main" val="3730770174"/>
                  </a:ext>
                </a:extLst>
              </a:tr>
              <a:tr h="370979">
                <a:tc>
                  <a:txBody>
                    <a:bodyPr/>
                    <a:lstStyle/>
                    <a:p>
                      <a:endParaRPr lang="zh-TW" altLang="en-US" sz="1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8" marB="45738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8" marB="45738"/>
                </a:tc>
                <a:extLst>
                  <a:ext uri="{0D108BD9-81ED-4DB2-BD59-A6C34878D82A}">
                    <a16:rowId xmlns:a16="http://schemas.microsoft.com/office/drawing/2014/main" val="1893151600"/>
                  </a:ext>
                </a:extLst>
              </a:tr>
              <a:tr h="370979">
                <a:tc>
                  <a:txBody>
                    <a:bodyPr/>
                    <a:lstStyle/>
                    <a:p>
                      <a:endParaRPr lang="zh-TW" altLang="en-US" sz="1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8" marB="45738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8" marB="45738"/>
                </a:tc>
                <a:extLst>
                  <a:ext uri="{0D108BD9-81ED-4DB2-BD59-A6C34878D82A}">
                    <a16:rowId xmlns:a16="http://schemas.microsoft.com/office/drawing/2014/main" val="185298208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標題 1"/>
          <p:cNvSpPr>
            <a:spLocks noGrp="1"/>
          </p:cNvSpPr>
          <p:nvPr>
            <p:ph type="title"/>
          </p:nvPr>
        </p:nvSpPr>
        <p:spPr>
          <a:xfrm>
            <a:off x="215900" y="33338"/>
            <a:ext cx="8229600" cy="679450"/>
          </a:xfrm>
        </p:spPr>
        <p:txBody>
          <a:bodyPr/>
          <a:lstStyle/>
          <a:p>
            <a:r>
              <a:rPr lang="zh-TW" altLang="en-US" smtClean="0"/>
              <a:t>技術</a:t>
            </a:r>
            <a:r>
              <a:rPr lang="en-US" altLang="zh-TW" smtClean="0"/>
              <a:t>/</a:t>
            </a:r>
            <a:r>
              <a:rPr lang="zh-TW" altLang="en-US" smtClean="0"/>
              <a:t>生活分享</a:t>
            </a:r>
          </a:p>
        </p:txBody>
      </p:sp>
      <p:graphicFrame>
        <p:nvGraphicFramePr>
          <p:cNvPr id="2" name="內容版面配置區 1"/>
          <p:cNvGraphicFramePr>
            <a:graphicFrameLocks noGrp="1"/>
          </p:cNvGraphicFramePr>
          <p:nvPr>
            <p:ph idx="1"/>
          </p:nvPr>
        </p:nvGraphicFramePr>
        <p:xfrm>
          <a:off x="25400" y="836613"/>
          <a:ext cx="9036050" cy="23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66880">
                  <a:extLst>
                    <a:ext uri="{9D8B030D-6E8A-4147-A177-3AD203B41FA5}">
                      <a16:colId xmlns:a16="http://schemas.microsoft.com/office/drawing/2014/main" val="2764215480"/>
                    </a:ext>
                  </a:extLst>
                </a:gridCol>
                <a:gridCol w="1969170">
                  <a:extLst>
                    <a:ext uri="{9D8B030D-6E8A-4147-A177-3AD203B41FA5}">
                      <a16:colId xmlns:a16="http://schemas.microsoft.com/office/drawing/2014/main" val="511278945"/>
                    </a:ext>
                  </a:extLst>
                </a:gridCol>
              </a:tblGrid>
              <a:tr h="43211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附件</a:t>
                      </a:r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備註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/>
                </a:tc>
                <a:extLst>
                  <a:ext uri="{0D108BD9-81ED-4DB2-BD59-A6C34878D82A}">
                    <a16:rowId xmlns:a16="http://schemas.microsoft.com/office/drawing/2014/main" val="3132568208"/>
                  </a:ext>
                </a:extLst>
              </a:tr>
              <a:tr h="7919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/>
                </a:tc>
                <a:extLst>
                  <a:ext uri="{0D108BD9-81ED-4DB2-BD59-A6C34878D82A}">
                    <a16:rowId xmlns:a16="http://schemas.microsoft.com/office/drawing/2014/main" val="2459239762"/>
                  </a:ext>
                </a:extLst>
              </a:tr>
              <a:tr h="370922"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/>
                </a:tc>
                <a:extLst>
                  <a:ext uri="{0D108BD9-81ED-4DB2-BD59-A6C34878D82A}">
                    <a16:rowId xmlns:a16="http://schemas.microsoft.com/office/drawing/2014/main" val="3730770174"/>
                  </a:ext>
                </a:extLst>
              </a:tr>
              <a:tr h="370922"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/>
                </a:tc>
                <a:extLst>
                  <a:ext uri="{0D108BD9-81ED-4DB2-BD59-A6C34878D82A}">
                    <a16:rowId xmlns:a16="http://schemas.microsoft.com/office/drawing/2014/main" val="1893151600"/>
                  </a:ext>
                </a:extLst>
              </a:tr>
              <a:tr h="370922">
                <a:tc>
                  <a:txBody>
                    <a:bodyPr/>
                    <a:lstStyle/>
                    <a:p>
                      <a:endParaRPr lang="zh-TW" altLang="en-US" sz="1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/>
                </a:tc>
                <a:extLst>
                  <a:ext uri="{0D108BD9-81ED-4DB2-BD59-A6C34878D82A}">
                    <a16:rowId xmlns:a16="http://schemas.microsoft.com/office/drawing/2014/main" val="185298208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Lucida Sans Unicode"/>
        <a:ea typeface="DFKai-SB"/>
        <a:cs typeface="新細明體"/>
      </a:majorFont>
      <a:minorFont>
        <a:latin typeface="Lucida Sans Unicode"/>
        <a:ea typeface="DFKai-SB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58158</TotalTime>
  <Words>316</Words>
  <Application>Microsoft Office PowerPoint</Application>
  <PresentationFormat>如螢幕大小 (4:3)</PresentationFormat>
  <Paragraphs>119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8" baseType="lpstr">
      <vt:lpstr>Arial</vt:lpstr>
      <vt:lpstr>新細明體</vt:lpstr>
      <vt:lpstr>Lucida Sans Unicode</vt:lpstr>
      <vt:lpstr>標楷體</vt:lpstr>
      <vt:lpstr>微軟正黑體</vt:lpstr>
      <vt:lpstr>Calibri</vt:lpstr>
      <vt:lpstr>Times New Roman</vt:lpstr>
      <vt:lpstr>預設簡報設計</vt:lpstr>
      <vt:lpstr>Erp整合規劃部(月會)</vt:lpstr>
      <vt:lpstr>本月參與會議</vt:lpstr>
      <vt:lpstr>已完成待上線</vt:lpstr>
      <vt:lpstr>年度專案</vt:lpstr>
      <vt:lpstr>重點專案</vt:lpstr>
      <vt:lpstr>本月工作報告-正宜(1/1)</vt:lpstr>
      <vt:lpstr>工作排程-正宜(1/1)</vt:lpstr>
      <vt:lpstr>AI運用</vt:lpstr>
      <vt:lpstr>問題/議題討論</vt:lpstr>
      <vt:lpstr>技術/生活分享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cp:lastModifiedBy>Jim 謝正宜#1508</cp:lastModifiedBy>
  <cp:revision>1423</cp:revision>
  <cp:lastPrinted>2021-06-11T01:09:07Z</cp:lastPrinted>
  <dcterms:created xsi:type="dcterms:W3CDTF">2013-05-28T09:21:00Z</dcterms:created>
  <dcterms:modified xsi:type="dcterms:W3CDTF">2026-03-05T01:35:05Z</dcterms:modified>
</cp:coreProperties>
</file>